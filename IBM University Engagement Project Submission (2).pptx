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4982C5-6CE2-41A9-8257-FFAC55A4C26B}" v="2" dt="2026-07-14T18:28:36.443"/>
    <p1510:client id="{B5B6E0DC-874A-5134-A69C-A9423E18F5C0}" v="103" dt="2026-07-14T18:29:04.098"/>
    <p1510:client id="{BAB55036-F139-2CC3-3685-525D86934BEB}" v="3" dt="2026-07-15T03:36:52.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12CF3-7582-15B0-4E5E-00F200ABD9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3A6627-3652-7F3D-E0E8-021231148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6BCB94-5C37-4C28-3614-3E74697D6E04}"/>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1184B516-4A5A-C154-3817-EA3FD306E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400291-C543-A516-D34E-22A24A6B6EFF}"/>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97349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BF54-E13B-AA21-6EAE-64F61846E1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382970-DE8C-DCAB-9236-528F6F34B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4E6BA-2882-51D6-E3C7-68B1924407A1}"/>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855CA509-1C1B-2364-8AEE-CC33DBCA09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85B74-1FCD-0BD5-B450-7FDAD3E3D5D1}"/>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3332037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6657D-8662-E8FF-D346-F7ED2FD079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5D9D37-5F94-A4BC-9BB2-56B271182C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C87E56-6096-E9D1-F551-CE2E8A89E24E}"/>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49098482-BE03-D969-6B8D-4A81130B4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0AAD22-5C46-CF9B-ACA3-971ECEC60202}"/>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4074393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F74F1-EF08-91DA-8F7B-F3FDCC8EF0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A8A0B-EDEC-B426-5EB1-020BA0760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4A680C-182D-2407-0F6C-4334478A2D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108439-4C3D-1A1F-1E9E-681DF56FB3B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524FD335-5958-B00C-83FF-2307F883E8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85F643-B389-B032-6F78-C7980491B091}"/>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3614526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D04F-A195-2673-B5BB-5BA591914D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69F60D-CF17-52D5-90C9-F7966E339E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557F0C-DF82-27BD-11A9-D0E8709382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4F83F3-253B-93EB-43F7-85C60E059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698364-06A4-E0B9-3CC1-C6475215BC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5F7F1A-D4C1-0610-7B8B-3B67344E01C2}"/>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8" name="Footer Placeholder 7">
            <a:extLst>
              <a:ext uri="{FF2B5EF4-FFF2-40B4-BE49-F238E27FC236}">
                <a16:creationId xmlns:a16="http://schemas.microsoft.com/office/drawing/2014/main" id="{7D10702E-566F-B86F-2612-8FC84B7ED6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F379CF-5D23-C0EE-CB0F-C0ACC4A85484}"/>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932101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999E-4CAB-487B-F3CE-BEB3013F40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86C0F5-3A49-9394-32CB-C0295C9D23B6}"/>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4" name="Footer Placeholder 3">
            <a:extLst>
              <a:ext uri="{FF2B5EF4-FFF2-40B4-BE49-F238E27FC236}">
                <a16:creationId xmlns:a16="http://schemas.microsoft.com/office/drawing/2014/main" id="{CB55235E-332D-B68F-514E-6FB4BACD93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7034BC-B706-7CF2-829B-173C12B5C28E}"/>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214569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935FC0-DBCB-2C33-A7EE-F53A97DEC16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3" name="Footer Placeholder 2">
            <a:extLst>
              <a:ext uri="{FF2B5EF4-FFF2-40B4-BE49-F238E27FC236}">
                <a16:creationId xmlns:a16="http://schemas.microsoft.com/office/drawing/2014/main" id="{B1AE30F6-8104-B480-C13C-9F2890DDD6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6DD69F-ED70-C91F-FA68-8B9A70D501A7}"/>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867961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9A5A-99B5-A4DC-F6FF-A87AD9A63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850905-1768-E92D-7A68-6EBA198C0D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E4CF4B-3A98-051D-7004-038FCF888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E86AF0-FA24-3C1A-E27B-ACE4B3D34A09}"/>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20E303E6-E823-4DA4-033B-9ADEA8158E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020D2B-BC60-E42F-05F1-C22534C78DD9}"/>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87190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4EAC-B696-A54A-E4A8-A8B9EBCE2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C1A820-6214-86D0-63EF-168F1CD567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B00A14-14FB-779A-A1B5-5A0526189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DC3A0-3921-247A-52C4-33C2D718774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49DBB956-AC34-1DD7-4EA0-E472507EDC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E6A0C-B4E7-18A4-02D6-658549D64CD2}"/>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285696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7AB68-9334-6AA9-7DA8-330E474610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41155F-AD8E-86F0-5617-4876947727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C2021-A125-360C-0F5C-1A69E2FFDF54}"/>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8F6F8FA9-D084-9907-7874-69FB535438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4AD986-054E-54AE-BBDB-144F24840D9C}"/>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06634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09A2C3-0E49-634A-5BC2-59C5020F36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069F06-6ACA-1374-DFA5-96C948AEB3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946F5-36F6-402F-94D5-8BCB0EACCC1D}"/>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A5CA8EB3-5C5C-40D1-8D15-2BF0FEE3F5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EB45C-9D6C-7750-9FFC-F373562F3B60}"/>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79439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53ED4A-7010-35A3-ADE6-DDDB3CFC31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7069ED-A2FE-9CC4-58CE-F1810D0F7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CF541-F98E-560B-2350-F57F83F57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EE6E5920-A8A4-6C94-5750-05FD88AA77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F069D70-D1E2-FD40-6C8A-022BD0246B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675C7-5A5C-49AC-992A-E026BACDADBE}" type="slidenum">
              <a:rPr lang="en-IN" smtClean="0"/>
              <a:t>‹#›</a:t>
            </a:fld>
            <a:endParaRPr lang="en-IN"/>
          </a:p>
        </p:txBody>
      </p:sp>
    </p:spTree>
    <p:extLst>
      <p:ext uri="{BB962C8B-B14F-4D97-AF65-F5344CB8AC3E}">
        <p14:creationId xmlns:p14="http://schemas.microsoft.com/office/powerpoint/2010/main" val="37706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E30B-C510-CAF8-D6FA-34A30ECD7C57}"/>
              </a:ext>
            </a:extLst>
          </p:cNvPr>
          <p:cNvSpPr>
            <a:spLocks noGrp="1"/>
          </p:cNvSpPr>
          <p:nvPr>
            <p:ph type="ctrTitle"/>
          </p:nvPr>
        </p:nvSpPr>
        <p:spPr/>
        <p:txBody>
          <a:bodyPr>
            <a:normAutofit fontScale="90000"/>
          </a:bodyPr>
          <a:lstStyle/>
          <a:p>
            <a:r>
              <a:rPr lang="en-US" b="1">
                <a:latin typeface="Arial" panose="020B0604020202020204" pitchFamily="34" charset="0"/>
                <a:cs typeface="Arial" panose="020B0604020202020204" pitchFamily="34" charset="0"/>
              </a:rPr>
              <a:t>IBM University Engagement Project Submission</a:t>
            </a:r>
            <a:endParaRPr lang="en-IN">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E526A8B-BE34-0530-343C-3DDC922C03F3}"/>
              </a:ext>
            </a:extLst>
          </p:cNvPr>
          <p:cNvSpPr>
            <a:spLocks noGrp="1"/>
          </p:cNvSpPr>
          <p:nvPr>
            <p:ph type="subTitle" idx="1"/>
          </p:nvPr>
        </p:nvSpPr>
        <p:spPr/>
        <p:txBody>
          <a:bodyPr/>
          <a:lstStyle/>
          <a:p>
            <a:r>
              <a:rPr lang="en-US" b="1" i="1">
                <a:latin typeface="Arial" panose="020B0604020202020204" pitchFamily="34" charset="0"/>
                <a:cs typeface="Arial" panose="020B0604020202020204" pitchFamily="34" charset="0"/>
              </a:rPr>
              <a:t>“Exploring the Power of Agentic AI with IBM Granite and </a:t>
            </a:r>
            <a:r>
              <a:rPr lang="en-US" b="1" i="1" err="1">
                <a:latin typeface="Arial" panose="020B0604020202020204" pitchFamily="34" charset="0"/>
                <a:cs typeface="Arial" panose="020B0604020202020204" pitchFamily="34" charset="0"/>
              </a:rPr>
              <a:t>LangFlow</a:t>
            </a:r>
            <a:r>
              <a:rPr lang="en-US" b="1" i="1">
                <a:latin typeface="Arial" panose="020B0604020202020204" pitchFamily="34" charset="0"/>
                <a:cs typeface="Arial" panose="020B0604020202020204" pitchFamily="34" charset="0"/>
              </a:rPr>
              <a:t>”</a:t>
            </a:r>
            <a:endParaRPr lang="en-IN">
              <a:latin typeface="Arial" panose="020B0604020202020204" pitchFamily="34" charset="0"/>
              <a:cs typeface="Arial" panose="020B0604020202020204" pitchFamily="34" charset="0"/>
            </a:endParaRP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8975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4A14-0921-3634-1D01-BA0C67C01518}"/>
              </a:ext>
            </a:extLst>
          </p:cNvPr>
          <p:cNvSpPr>
            <a:spLocks noGrp="1"/>
          </p:cNvSpPr>
          <p:nvPr>
            <p:ph type="title"/>
          </p:nvPr>
        </p:nvSpPr>
        <p:spPr/>
        <p:txBody>
          <a:bodyPr>
            <a:normAutofit/>
          </a:bodyPr>
          <a:lstStyle/>
          <a:p>
            <a:r>
              <a:rPr lang="en-US" sz="2800" b="1">
                <a:latin typeface="Arial" panose="020B0604020202020204" pitchFamily="34" charset="0"/>
                <a:cs typeface="Arial" panose="020B0604020202020204" pitchFamily="34" charset="0"/>
              </a:rPr>
              <a:t>Project Title – </a:t>
            </a:r>
            <a:r>
              <a:rPr lang="en-IN" sz="2800">
                <a:latin typeface="Arial" panose="020B0604020202020204" pitchFamily="34" charset="0"/>
                <a:cs typeface="Arial" panose="020B0604020202020204" pitchFamily="34" charset="0"/>
              </a:rPr>
              <a:t>Social Media Agent</a:t>
            </a:r>
          </a:p>
        </p:txBody>
      </p:sp>
      <p:sp>
        <p:nvSpPr>
          <p:cNvPr id="3" name="Content Placeholder 2">
            <a:extLst>
              <a:ext uri="{FF2B5EF4-FFF2-40B4-BE49-F238E27FC236}">
                <a16:creationId xmlns:a16="http://schemas.microsoft.com/office/drawing/2014/main" id="{569A8DA5-4110-9F04-EC13-8ACE7A02D4F6}"/>
              </a:ext>
            </a:extLst>
          </p:cNvPr>
          <p:cNvSpPr>
            <a:spLocks noGrp="1"/>
          </p:cNvSpPr>
          <p:nvPr>
            <p:ph idx="1"/>
          </p:nvPr>
        </p:nvSpPr>
        <p:spPr/>
        <p:txBody>
          <a:bodyPr/>
          <a:lstStyle/>
          <a:p>
            <a:r>
              <a:rPr lang="en-US" sz="2000" b="1">
                <a:latin typeface="Arial" panose="020B0604020202020204" pitchFamily="34" charset="0"/>
                <a:cs typeface="Arial" panose="020B0604020202020204" pitchFamily="34" charset="0"/>
              </a:rPr>
              <a:t>Domain of  Project – </a:t>
            </a:r>
            <a:r>
              <a:rPr lang="en-IN" sz="2000">
                <a:latin typeface="Arial" panose="020B0604020202020204" pitchFamily="34" charset="0"/>
                <a:cs typeface="Arial" panose="020B0604020202020204" pitchFamily="34" charset="0"/>
              </a:rPr>
              <a:t>Artificial Intelligence (AI) &amp; Social Media Analytics</a:t>
            </a: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a:latin typeface="Arial" panose="020B0604020202020204" pitchFamily="34" charset="0"/>
              <a:cs typeface="Arial" panose="020B0604020202020204" pitchFamily="34" charset="0"/>
            </a:endParaRPr>
          </a:p>
        </p:txBody>
      </p:sp>
      <p:graphicFrame>
        <p:nvGraphicFramePr>
          <p:cNvPr id="7" name="Google Shape;96;p2">
            <a:extLst>
              <a:ext uri="{FF2B5EF4-FFF2-40B4-BE49-F238E27FC236}">
                <a16:creationId xmlns:a16="http://schemas.microsoft.com/office/drawing/2014/main" id="{064677CB-AA17-124A-B205-6DC5D960B467}"/>
              </a:ext>
            </a:extLst>
          </p:cNvPr>
          <p:cNvGraphicFramePr/>
          <p:nvPr>
            <p:extLst>
              <p:ext uri="{D42A27DB-BD31-4B8C-83A1-F6EECF244321}">
                <p14:modId xmlns:p14="http://schemas.microsoft.com/office/powerpoint/2010/main" val="4091707932"/>
              </p:ext>
            </p:extLst>
          </p:nvPr>
        </p:nvGraphicFramePr>
        <p:xfrm>
          <a:off x="1242107" y="2609840"/>
          <a:ext cx="9394989" cy="2167128"/>
        </p:xfrm>
        <a:graphic>
          <a:graphicData uri="http://schemas.openxmlformats.org/drawingml/2006/table">
            <a:tbl>
              <a:tblPr>
                <a:noFill/>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a:t>Tanish </a:t>
                      </a:r>
                      <a:r>
                        <a:rPr lang="en-US" err="1"/>
                        <a:t>Chogale</a:t>
                      </a:r>
                      <a:endParaRPr err="1"/>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a:t>tanishchogale@gmail.com</a:t>
                      </a:r>
                      <a:endParaRPr sz="1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8625044103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4" name="Picture 3">
            <a:extLst>
              <a:ext uri="{FF2B5EF4-FFF2-40B4-BE49-F238E27FC236}">
                <a16:creationId xmlns:a16="http://schemas.microsoft.com/office/drawing/2014/main" id="{3F1B84E0-2CBD-B6D9-E6A4-01ADAF34E21A}"/>
              </a:ext>
            </a:extLst>
          </p:cNvPr>
          <p:cNvPicPr>
            <a:picLocks noChangeAspect="1"/>
          </p:cNvPicPr>
          <p:nvPr/>
        </p:nvPicPr>
        <p:blipFill>
          <a:blip r:embed="rId2"/>
          <a:stretch>
            <a:fillRect/>
          </a:stretch>
        </p:blipFill>
        <p:spPr>
          <a:xfrm>
            <a:off x="4082142" y="3621313"/>
            <a:ext cx="1030515" cy="1030515"/>
          </a:xfrm>
          <a:prstGeom prst="rect">
            <a:avLst/>
          </a:prstGeom>
        </p:spPr>
      </p:pic>
    </p:spTree>
    <p:extLst>
      <p:ext uri="{BB962C8B-B14F-4D97-AF65-F5344CB8AC3E}">
        <p14:creationId xmlns:p14="http://schemas.microsoft.com/office/powerpoint/2010/main" val="3221315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C45B-2424-06D8-B267-F577BFB62EA7}"/>
              </a:ext>
            </a:extLst>
          </p:cNvPr>
          <p:cNvSpPr>
            <a:spLocks noGrp="1"/>
          </p:cNvSpPr>
          <p:nvPr>
            <p:ph type="title"/>
          </p:nvPr>
        </p:nvSpPr>
        <p:spPr>
          <a:xfrm>
            <a:off x="561975" y="136525"/>
            <a:ext cx="10915650" cy="1325563"/>
          </a:xfrm>
        </p:spPr>
        <p:txBody>
          <a:bodyPr>
            <a:normAutofit/>
          </a:bodyPr>
          <a:lstStyle/>
          <a:p>
            <a:r>
              <a:rPr lang="en-US" sz="2800" b="1">
                <a:latin typeface="Arial" panose="020B0604020202020204" pitchFamily="34" charset="0"/>
                <a:cs typeface="Arial" panose="020B0604020202020204" pitchFamily="34" charset="0"/>
              </a:rPr>
              <a:t>Problem Statement- </a:t>
            </a:r>
            <a:r>
              <a:rPr lang="en-IN" sz="2800" b="1">
                <a:latin typeface="Arial" panose="020B0604020202020204" pitchFamily="34" charset="0"/>
                <a:cs typeface="Arial" panose="020B0604020202020204" pitchFamily="34" charset="0"/>
              </a:rPr>
              <a:t>Social Media Agent </a:t>
            </a:r>
          </a:p>
        </p:txBody>
      </p:sp>
      <p:sp>
        <p:nvSpPr>
          <p:cNvPr id="3" name="Content Placeholder 2">
            <a:extLst>
              <a:ext uri="{FF2B5EF4-FFF2-40B4-BE49-F238E27FC236}">
                <a16:creationId xmlns:a16="http://schemas.microsoft.com/office/drawing/2014/main" id="{30E62F81-F67F-F459-6D59-528893795BE8}"/>
              </a:ext>
            </a:extLst>
          </p:cNvPr>
          <p:cNvSpPr>
            <a:spLocks noGrp="1"/>
          </p:cNvSpPr>
          <p:nvPr>
            <p:ph idx="1"/>
          </p:nvPr>
        </p:nvSpPr>
        <p:spPr>
          <a:xfrm>
            <a:off x="404812" y="1085850"/>
            <a:ext cx="11382375" cy="6105525"/>
          </a:xfrm>
        </p:spPr>
        <p:txBody>
          <a:bodyPr>
            <a:normAutofit fontScale="47500" lnSpcReduction="20000"/>
          </a:bodyPr>
          <a:lstStyle/>
          <a:p>
            <a:pPr>
              <a:lnSpc>
                <a:spcPct val="120000"/>
              </a:lnSpc>
            </a:pPr>
            <a:r>
              <a:rPr lang="en-IN" sz="5100" b="1">
                <a:latin typeface="Arial" panose="020B0604020202020204" pitchFamily="34" charset="0"/>
                <a:cs typeface="Arial" panose="020B0604020202020204" pitchFamily="34" charset="0"/>
              </a:rPr>
              <a:t>The Challenge</a:t>
            </a:r>
          </a:p>
          <a:p>
            <a:pPr marL="0" indent="0">
              <a:lnSpc>
                <a:spcPct val="120000"/>
              </a:lnSpc>
              <a:buNone/>
            </a:pPr>
            <a:r>
              <a:rPr lang="en-IN" sz="2900">
                <a:latin typeface="Arial" panose="020B0604020202020204" pitchFamily="34" charset="0"/>
                <a:cs typeface="Arial" panose="020B0604020202020204" pitchFamily="34" charset="0"/>
              </a:rPr>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2900" err="1">
                <a:latin typeface="Arial" panose="020B0604020202020204" pitchFamily="34" charset="0"/>
                <a:cs typeface="Arial" panose="020B0604020202020204" pitchFamily="34" charset="0"/>
              </a:rPr>
              <a:t>analyze</a:t>
            </a:r>
            <a:r>
              <a:rPr lang="en-IN" sz="2900">
                <a:latin typeface="Arial" panose="020B0604020202020204" pitchFamily="34" charset="0"/>
                <a:cs typeface="Arial" panose="020B0604020202020204" pitchFamily="34" charset="0"/>
              </a:rPr>
              <a:t>, predict, and recommend actions in real time</a:t>
            </a:r>
          </a:p>
          <a:p>
            <a:pPr>
              <a:lnSpc>
                <a:spcPct val="120000"/>
              </a:lnSpc>
            </a:pPr>
            <a:r>
              <a:rPr lang="en-IN" sz="5100" b="1">
                <a:latin typeface="Arial" panose="020B0604020202020204" pitchFamily="34" charset="0"/>
                <a:cs typeface="Arial" panose="020B0604020202020204" pitchFamily="34" charset="0"/>
              </a:rPr>
              <a:t>The Objective</a:t>
            </a:r>
          </a:p>
          <a:p>
            <a:pPr marL="0" indent="0">
              <a:lnSpc>
                <a:spcPct val="120000"/>
              </a:lnSpc>
              <a:buNone/>
            </a:pPr>
            <a:r>
              <a:rPr lang="en-IN" sz="2900">
                <a:latin typeface="Arial" panose="020B0604020202020204" pitchFamily="34" charset="0"/>
                <a:cs typeface="Arial" panose="020B0604020202020204" pitchFamily="34" charset="0"/>
              </a:rPr>
              <a:t>Build an agentic AI application that acts as an intelligent social media companion. </a:t>
            </a:r>
          </a:p>
          <a:p>
            <a:pPr marL="0" indent="0">
              <a:lnSpc>
                <a:spcPct val="120000"/>
              </a:lnSpc>
              <a:buNone/>
            </a:pPr>
            <a:r>
              <a:rPr lang="en-IN" sz="2900">
                <a:latin typeface="Arial" panose="020B0604020202020204" pitchFamily="34" charset="0"/>
                <a:cs typeface="Arial" panose="020B0604020202020204" pitchFamily="34" charset="0"/>
              </a:rPr>
              <a:t>The solution should: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Fuse Multichannel Data :- </a:t>
            </a:r>
            <a:r>
              <a:rPr lang="en-IN" sz="2900">
                <a:latin typeface="Arial" panose="020B0604020202020204" pitchFamily="34" charset="0"/>
                <a:cs typeface="Arial" panose="020B0604020202020204" pitchFamily="34" charset="0"/>
              </a:rPr>
              <a:t>Collect and synthesize content, comments, hashtags, and competitor posts from platforms like X, LinkedIn, Instagram, and Facebook into unified insights.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Enable Multimodal Interaction :-</a:t>
            </a:r>
            <a:r>
              <a:rPr lang="en-IN" sz="2900">
                <a:latin typeface="Arial" panose="020B0604020202020204" pitchFamily="34" charset="0"/>
                <a:cs typeface="Arial" panose="020B0604020202020204" pitchFamily="34" charset="0"/>
              </a:rPr>
              <a:t> Accept user inputs (text, images, or voice prompts) and generate creative post drafts, captions, or campaign ideas aligned with brand tone.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Create a Predictive &amp; Agentic Layer :- </a:t>
            </a:r>
            <a:r>
              <a:rPr lang="en-IN" sz="2900">
                <a:latin typeface="Arial" panose="020B0604020202020204" pitchFamily="34" charset="0"/>
                <a:cs typeface="Arial" panose="020B0604020202020204" pitchFamily="34" charset="0"/>
              </a:rPr>
              <a:t>Forecast trending hashtags, audience sentiment shifts, and competitor engagement patterns while suggesting the best posting schedules.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Visualize Social Media Pulse :- </a:t>
            </a:r>
            <a:r>
              <a:rPr lang="en-IN" sz="2900">
                <a:latin typeface="Arial" panose="020B0604020202020204" pitchFamily="34" charset="0"/>
                <a:cs typeface="Arial" panose="020B0604020202020204" pitchFamily="34" charset="0"/>
              </a:rPr>
              <a:t>Provide a dashboard with real-time analytics—engagement trends, influencer mapping, sentiment tracking, and campaign performance forecasts.</a:t>
            </a:r>
          </a:p>
          <a:p>
            <a:pPr>
              <a:lnSpc>
                <a:spcPct val="120000"/>
              </a:lnSpc>
            </a:pPr>
            <a:r>
              <a:rPr lang="en-IN" sz="5900" b="1">
                <a:latin typeface="Arial" panose="020B0604020202020204" pitchFamily="34" charset="0"/>
                <a:cs typeface="Arial" panose="020B0604020202020204" pitchFamily="34" charset="0"/>
              </a:rPr>
              <a:t>Tech Stack (Mandatory)</a:t>
            </a:r>
          </a:p>
          <a:p>
            <a:pPr marL="0" indent="0">
              <a:lnSpc>
                <a:spcPct val="120000"/>
              </a:lnSpc>
              <a:buNone/>
            </a:pPr>
            <a:r>
              <a:rPr lang="en-IN" sz="2900">
                <a:latin typeface="Arial" panose="020B0604020202020204" pitchFamily="34" charset="0"/>
                <a:cs typeface="Arial" panose="020B0604020202020204" pitchFamily="34" charset="0"/>
              </a:rPr>
              <a:t> IBM </a:t>
            </a:r>
            <a:r>
              <a:rPr lang="en-IN" sz="2900" err="1">
                <a:latin typeface="Arial" panose="020B0604020202020204" pitchFamily="34" charset="0"/>
                <a:cs typeface="Arial" panose="020B0604020202020204" pitchFamily="34" charset="0"/>
              </a:rPr>
              <a:t>Langflow</a:t>
            </a:r>
            <a:r>
              <a:rPr lang="en-IN" sz="2900">
                <a:latin typeface="Arial" panose="020B0604020202020204" pitchFamily="34" charset="0"/>
                <a:cs typeface="Arial" panose="020B0604020202020204" pitchFamily="34" charset="0"/>
              </a:rPr>
              <a:t> / IBM Orchestrate + IBM Models</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3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D275-5AFA-44BC-B801-1ED9B516AA4A}"/>
              </a:ext>
            </a:extLst>
          </p:cNvPr>
          <p:cNvSpPr>
            <a:spLocks noGrp="1"/>
          </p:cNvSpPr>
          <p:nvPr>
            <p:ph type="title"/>
          </p:nvPr>
        </p:nvSpPr>
        <p:spPr/>
        <p:txBody>
          <a:bodyPr/>
          <a:lstStyle/>
          <a:p>
            <a:r>
              <a:rPr lang="en-IN" sz="2800" b="1">
                <a:latin typeface="Arial" panose="020B0604020202020204" pitchFamily="34" charset="0"/>
                <a:cs typeface="Arial" panose="020B0604020202020204" pitchFamily="34" charset="0"/>
              </a:rPr>
              <a:t>Proposed Solution</a:t>
            </a:r>
            <a:br>
              <a:rPr lang="en-IN" b="1">
                <a:latin typeface="Arial" panose="020B0604020202020204" pitchFamily="34" charset="0"/>
                <a:cs typeface="Arial" panose="020B0604020202020204" pitchFamily="34" charset="0"/>
              </a:rPr>
            </a:br>
            <a:endParaRPr lang="en-IN">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7F86323-B6A3-4BEE-9593-B43E582EDFF6}"/>
              </a:ext>
            </a:extLst>
          </p:cNvPr>
          <p:cNvSpPr>
            <a:spLocks noGrp="1"/>
          </p:cNvSpPr>
          <p:nvPr>
            <p:ph idx="1"/>
          </p:nvPr>
        </p:nvSpPr>
        <p:spPr>
          <a:xfrm>
            <a:off x="523876" y="1162049"/>
            <a:ext cx="10991850" cy="5762626"/>
          </a:xfrm>
        </p:spPr>
        <p:txBody>
          <a:bodyPr>
            <a:normAutofit fontScale="62500" lnSpcReduction="20000"/>
          </a:bodyPr>
          <a:lstStyle/>
          <a:p>
            <a:pPr>
              <a:lnSpc>
                <a:spcPct val="120000"/>
              </a:lnSpc>
            </a:pPr>
            <a:r>
              <a:rPr lang="en-IN" sz="2900" b="1" err="1">
                <a:latin typeface="Arial" panose="020B0604020202020204" pitchFamily="34" charset="0"/>
                <a:cs typeface="Arial" panose="020B0604020202020204" pitchFamily="34" charset="0"/>
              </a:rPr>
              <a:t>SocialSense</a:t>
            </a:r>
            <a:r>
              <a:rPr lang="en-IN" sz="2900" b="1">
                <a:latin typeface="Arial" panose="020B0604020202020204" pitchFamily="34" charset="0"/>
                <a:cs typeface="Arial" panose="020B0604020202020204" pitchFamily="34" charset="0"/>
              </a:rPr>
              <a:t> AI </a:t>
            </a:r>
            <a:r>
              <a:rPr lang="en-IN" sz="2900">
                <a:latin typeface="Arial" panose="020B0604020202020204" pitchFamily="34" charset="0"/>
                <a:cs typeface="Arial" panose="020B0604020202020204" pitchFamily="34" charset="0"/>
              </a:rPr>
              <a:t>is an intelligent, agentic social media assistant that helps brands, influencers, and organizations streamline their social media management using AI. </a:t>
            </a:r>
          </a:p>
          <a:p>
            <a:pPr>
              <a:lnSpc>
                <a:spcPct val="120000"/>
              </a:lnSpc>
            </a:pPr>
            <a:r>
              <a:rPr lang="en-IN" sz="2900">
                <a:latin typeface="Arial" panose="020B0604020202020204" pitchFamily="34" charset="0"/>
                <a:cs typeface="Arial" panose="020B0604020202020204" pitchFamily="34" charset="0"/>
              </a:rPr>
              <a:t>The platform integrates data from multiple social media channels, </a:t>
            </a:r>
            <a:r>
              <a:rPr lang="en-IN" sz="2900" err="1">
                <a:latin typeface="Arial" panose="020B0604020202020204" pitchFamily="34" charset="0"/>
                <a:cs typeface="Arial" panose="020B0604020202020204" pitchFamily="34" charset="0"/>
              </a:rPr>
              <a:t>analyzes</a:t>
            </a:r>
            <a:r>
              <a:rPr lang="en-IN" sz="2900">
                <a:latin typeface="Arial" panose="020B0604020202020204" pitchFamily="34" charset="0"/>
                <a:cs typeface="Arial" panose="020B0604020202020204" pitchFamily="34" charset="0"/>
              </a:rPr>
              <a:t> audience engagement and sentiment, tracks competitor activities, identifies trending topics and hashtags, and generates platform-specific content tailored to the user's brand voice.</a:t>
            </a:r>
          </a:p>
          <a:p>
            <a:pPr>
              <a:lnSpc>
                <a:spcPct val="120000"/>
              </a:lnSpc>
            </a:pPr>
            <a:r>
              <a:rPr lang="en-IN" sz="2900">
                <a:latin typeface="Arial" panose="020B0604020202020204" pitchFamily="34" charset="0"/>
                <a:cs typeface="Arial" panose="020B0604020202020204" pitchFamily="34" charset="0"/>
              </a:rPr>
              <a:t>Built on </a:t>
            </a:r>
            <a:r>
              <a:rPr lang="en-IN" sz="2900" b="1">
                <a:latin typeface="Arial" panose="020B0604020202020204" pitchFamily="34" charset="0"/>
                <a:cs typeface="Arial" panose="020B0604020202020204" pitchFamily="34" charset="0"/>
              </a:rPr>
              <a:t>IBM watsonx.ai</a:t>
            </a:r>
            <a:r>
              <a:rPr lang="en-IN" sz="2900">
                <a:latin typeface="Arial" panose="020B0604020202020204" pitchFamily="34" charset="0"/>
                <a:cs typeface="Arial" panose="020B0604020202020204" pitchFamily="34" charset="0"/>
              </a:rPr>
              <a:t>, </a:t>
            </a:r>
            <a:r>
              <a:rPr lang="en-IN" sz="2900" b="1">
                <a:latin typeface="Arial" panose="020B0604020202020204" pitchFamily="34" charset="0"/>
                <a:cs typeface="Arial" panose="020B0604020202020204" pitchFamily="34" charset="0"/>
              </a:rPr>
              <a:t>IBM </a:t>
            </a:r>
            <a:r>
              <a:rPr lang="en-IN" sz="2900" b="1" err="1">
                <a:latin typeface="Arial" panose="020B0604020202020204" pitchFamily="34" charset="0"/>
                <a:cs typeface="Arial" panose="020B0604020202020204" pitchFamily="34" charset="0"/>
              </a:rPr>
              <a:t>Langflow</a:t>
            </a:r>
            <a:r>
              <a:rPr lang="en-IN" sz="2900">
                <a:latin typeface="Arial" panose="020B0604020202020204" pitchFamily="34" charset="0"/>
                <a:cs typeface="Arial" panose="020B0604020202020204" pitchFamily="34" charset="0"/>
              </a:rPr>
              <a:t>, and </a:t>
            </a:r>
            <a:r>
              <a:rPr lang="en-IN" sz="2900" b="1">
                <a:latin typeface="Arial" panose="020B0604020202020204" pitchFamily="34" charset="0"/>
                <a:cs typeface="Arial" panose="020B0604020202020204" pitchFamily="34" charset="0"/>
              </a:rPr>
              <a:t>IBM Orchestrate</a:t>
            </a:r>
            <a:r>
              <a:rPr lang="en-IN" sz="2900">
                <a:latin typeface="Arial" panose="020B0604020202020204" pitchFamily="34" charset="0"/>
                <a:cs typeface="Arial" panose="020B0604020202020204" pitchFamily="34" charset="0"/>
              </a:rPr>
              <a:t>, </a:t>
            </a:r>
            <a:r>
              <a:rPr lang="en-IN" sz="2900" err="1">
                <a:latin typeface="Arial" panose="020B0604020202020204" pitchFamily="34" charset="0"/>
                <a:cs typeface="Arial" panose="020B0604020202020204" pitchFamily="34" charset="0"/>
              </a:rPr>
              <a:t>SocialSense</a:t>
            </a:r>
            <a:r>
              <a:rPr lang="en-IN" sz="2900">
                <a:latin typeface="Arial" panose="020B0604020202020204" pitchFamily="34" charset="0"/>
                <a:cs typeface="Arial" panose="020B0604020202020204" pitchFamily="34" charset="0"/>
              </a:rPr>
              <a:t> AI employs a multi-agent architecture where specialized AI agents collaborate to collect data, generate content, </a:t>
            </a:r>
            <a:r>
              <a:rPr lang="en-IN" sz="2900" err="1">
                <a:latin typeface="Arial" panose="020B0604020202020204" pitchFamily="34" charset="0"/>
                <a:cs typeface="Arial" panose="020B0604020202020204" pitchFamily="34" charset="0"/>
              </a:rPr>
              <a:t>analyze</a:t>
            </a:r>
            <a:r>
              <a:rPr lang="en-IN" sz="2900">
                <a:latin typeface="Arial" panose="020B0604020202020204" pitchFamily="34" charset="0"/>
                <a:cs typeface="Arial" panose="020B0604020202020204" pitchFamily="34" charset="0"/>
              </a:rPr>
              <a:t> trends, predict engagement, and provide actionable recommendations. </a:t>
            </a:r>
          </a:p>
          <a:p>
            <a:pPr>
              <a:lnSpc>
                <a:spcPct val="120000"/>
              </a:lnSpc>
            </a:pPr>
            <a:r>
              <a:rPr lang="en-IN" sz="2900">
                <a:latin typeface="Arial" panose="020B0604020202020204" pitchFamily="34" charset="0"/>
                <a:cs typeface="Arial" panose="020B0604020202020204" pitchFamily="34" charset="0"/>
              </a:rPr>
              <a:t>A Retrieval-Augmented Generation (RAG) layer enables the system to retrieve relevant brand guidelines, previous campaigns, and marketing documents, ensuring personalized and context-aware responses.</a:t>
            </a:r>
          </a:p>
          <a:p>
            <a:pPr>
              <a:lnSpc>
                <a:spcPct val="120000"/>
              </a:lnSpc>
            </a:pPr>
            <a:r>
              <a:rPr lang="en-IN" sz="2900">
                <a:latin typeface="Arial" panose="020B0604020202020204" pitchFamily="34" charset="0"/>
                <a:cs typeface="Arial" panose="020B0604020202020204" pitchFamily="34" charset="0"/>
              </a:rPr>
              <a:t>The solution features an interactive dashboard that provides real-time analytics, campaign performance metrics, audience sentiment, competitor comparisons, trending hashtags, and optimal posting schedules. </a:t>
            </a:r>
          </a:p>
          <a:p>
            <a:pPr>
              <a:lnSpc>
                <a:spcPct val="120000"/>
              </a:lnSpc>
            </a:pPr>
            <a:r>
              <a:rPr lang="en-IN" sz="2900">
                <a:latin typeface="Arial" panose="020B0604020202020204" pitchFamily="34" charset="0"/>
                <a:cs typeface="Arial" panose="020B0604020202020204" pitchFamily="34" charset="0"/>
              </a:rPr>
              <a:t>By combining generative AI, predictive analytics, and intelligent automation, </a:t>
            </a:r>
            <a:r>
              <a:rPr lang="en-IN" sz="2900" err="1">
                <a:latin typeface="Arial" panose="020B0604020202020204" pitchFamily="34" charset="0"/>
                <a:cs typeface="Arial" panose="020B0604020202020204" pitchFamily="34" charset="0"/>
              </a:rPr>
              <a:t>SocialSense</a:t>
            </a:r>
            <a:r>
              <a:rPr lang="en-IN" sz="2900">
                <a:latin typeface="Arial" panose="020B0604020202020204" pitchFamily="34" charset="0"/>
                <a:cs typeface="Arial" panose="020B0604020202020204" pitchFamily="34" charset="0"/>
              </a:rPr>
              <a:t> AI empowers users to create high-quality content, make data-driven marketing decisions, and maximize audience engagement while significantly reducing manual effort.</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4561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5FDD-C076-1168-3B2A-8DB35FD45284}"/>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Technologies Used</a:t>
            </a:r>
            <a:br>
              <a:rPr lang="en-IN" b="1">
                <a:latin typeface="Arial" panose="020B0604020202020204" pitchFamily="34" charset="0"/>
                <a:cs typeface="Arial" panose="020B0604020202020204" pitchFamily="34" charset="0"/>
              </a:rPr>
            </a:br>
            <a:endParaRPr lang="en-IN">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7098D70-FAF3-F7B0-1F02-A5588095EE68}"/>
              </a:ext>
            </a:extLst>
          </p:cNvPr>
          <p:cNvSpPr>
            <a:spLocks noGrp="1"/>
          </p:cNvSpPr>
          <p:nvPr>
            <p:ph idx="1"/>
          </p:nvPr>
        </p:nvSpPr>
        <p:spPr>
          <a:xfrm>
            <a:off x="695324" y="1368425"/>
            <a:ext cx="11001375" cy="4351338"/>
          </a:xfrm>
        </p:spPr>
        <p:txBody>
          <a:bodyPr>
            <a:normAutofit fontScale="70000" lnSpcReduction="20000"/>
          </a:bodyPr>
          <a:lstStyle/>
          <a:p>
            <a:pPr>
              <a:lnSpc>
                <a:spcPct val="150000"/>
              </a:lnSpc>
            </a:pPr>
            <a:r>
              <a:rPr lang="en-IN" sz="2400" b="1">
                <a:latin typeface="Arial" panose="020B0604020202020204" pitchFamily="34" charset="0"/>
                <a:cs typeface="Arial" panose="020B0604020202020204" pitchFamily="34" charset="0"/>
              </a:rPr>
              <a:t>IBM watsonx.ai </a:t>
            </a:r>
            <a:r>
              <a:rPr lang="en-IN" sz="2400">
                <a:latin typeface="Arial" panose="020B0604020202020204" pitchFamily="34" charset="0"/>
                <a:cs typeface="Arial" panose="020B0604020202020204" pitchFamily="34" charset="0"/>
              </a:rPr>
              <a:t>– Powers AI-driven content generation and intelligent insights. </a:t>
            </a:r>
          </a:p>
          <a:p>
            <a:pPr>
              <a:lnSpc>
                <a:spcPct val="150000"/>
              </a:lnSpc>
            </a:pPr>
            <a:r>
              <a:rPr lang="en-IN" sz="2400" b="1">
                <a:latin typeface="Arial" panose="020B0604020202020204" pitchFamily="34" charset="0"/>
                <a:cs typeface="Arial" panose="020B0604020202020204" pitchFamily="34" charset="0"/>
              </a:rPr>
              <a:t>IBM </a:t>
            </a:r>
            <a:r>
              <a:rPr lang="en-IN" sz="2400" b="1" err="1">
                <a:latin typeface="Arial" panose="020B0604020202020204" pitchFamily="34" charset="0"/>
                <a:cs typeface="Arial" panose="020B0604020202020204" pitchFamily="34" charset="0"/>
              </a:rPr>
              <a:t>Langflow</a:t>
            </a:r>
            <a:r>
              <a:rPr lang="en-IN" sz="2400" b="1">
                <a:latin typeface="Arial" panose="020B0604020202020204" pitchFamily="34" charset="0"/>
                <a:cs typeface="Arial" panose="020B0604020202020204" pitchFamily="34" charset="0"/>
              </a:rPr>
              <a:t> </a:t>
            </a:r>
            <a:r>
              <a:rPr lang="en-IN" sz="2400">
                <a:latin typeface="Arial" panose="020B0604020202020204" pitchFamily="34" charset="0"/>
                <a:cs typeface="Arial" panose="020B0604020202020204" pitchFamily="34" charset="0"/>
              </a:rPr>
              <a:t>– Designs and manages multi-agent AI workflows visually. </a:t>
            </a:r>
          </a:p>
          <a:p>
            <a:pPr>
              <a:lnSpc>
                <a:spcPct val="150000"/>
              </a:lnSpc>
            </a:pPr>
            <a:r>
              <a:rPr lang="en-IN" sz="2400" b="1">
                <a:latin typeface="Arial" panose="020B0604020202020204" pitchFamily="34" charset="0"/>
                <a:cs typeface="Arial" panose="020B0604020202020204" pitchFamily="34" charset="0"/>
              </a:rPr>
              <a:t>IBM Orchestrate </a:t>
            </a:r>
            <a:r>
              <a:rPr lang="en-IN" sz="2400">
                <a:latin typeface="Arial" panose="020B0604020202020204" pitchFamily="34" charset="0"/>
                <a:cs typeface="Arial" panose="020B0604020202020204" pitchFamily="34" charset="0"/>
              </a:rPr>
              <a:t>– Coordinates AI agents to automate end-to-end tasks. </a:t>
            </a:r>
          </a:p>
          <a:p>
            <a:pPr>
              <a:lnSpc>
                <a:spcPct val="150000"/>
              </a:lnSpc>
            </a:pPr>
            <a:r>
              <a:rPr lang="en-IN" sz="2400" b="1">
                <a:latin typeface="Arial" panose="020B0604020202020204" pitchFamily="34" charset="0"/>
                <a:cs typeface="Arial" panose="020B0604020202020204" pitchFamily="34" charset="0"/>
              </a:rPr>
              <a:t>Python (Flask/</a:t>
            </a:r>
            <a:r>
              <a:rPr lang="en-IN" sz="2400" b="1" err="1">
                <a:latin typeface="Arial" panose="020B0604020202020204" pitchFamily="34" charset="0"/>
                <a:cs typeface="Arial" panose="020B0604020202020204" pitchFamily="34" charset="0"/>
              </a:rPr>
              <a:t>FastAPI</a:t>
            </a:r>
            <a:r>
              <a:rPr lang="en-IN" sz="2400" b="1">
                <a:latin typeface="Arial" panose="020B0604020202020204" pitchFamily="34" charset="0"/>
                <a:cs typeface="Arial" panose="020B0604020202020204" pitchFamily="34" charset="0"/>
              </a:rPr>
              <a:t>) </a:t>
            </a:r>
            <a:r>
              <a:rPr lang="en-IN" sz="2400">
                <a:latin typeface="Arial" panose="020B0604020202020204" pitchFamily="34" charset="0"/>
                <a:cs typeface="Arial" panose="020B0604020202020204" pitchFamily="34" charset="0"/>
              </a:rPr>
              <a:t>– Handles backend logic and API integration. </a:t>
            </a:r>
          </a:p>
          <a:p>
            <a:pPr>
              <a:lnSpc>
                <a:spcPct val="150000"/>
              </a:lnSpc>
            </a:pPr>
            <a:r>
              <a:rPr lang="en-IN" sz="2400" b="1">
                <a:latin typeface="Arial" panose="020B0604020202020204" pitchFamily="34" charset="0"/>
                <a:cs typeface="Arial" panose="020B0604020202020204" pitchFamily="34" charset="0"/>
              </a:rPr>
              <a:t>HTML, CSS &amp; JavaScript </a:t>
            </a:r>
            <a:r>
              <a:rPr lang="en-IN" sz="2400">
                <a:latin typeface="Arial" panose="020B0604020202020204" pitchFamily="34" charset="0"/>
                <a:cs typeface="Arial" panose="020B0604020202020204" pitchFamily="34" charset="0"/>
              </a:rPr>
              <a:t>– Build a responsive and interactive user interface. </a:t>
            </a:r>
          </a:p>
          <a:p>
            <a:pPr>
              <a:lnSpc>
                <a:spcPct val="150000"/>
              </a:lnSpc>
            </a:pPr>
            <a:r>
              <a:rPr lang="en-IN" sz="2400" b="1" err="1">
                <a:latin typeface="Arial" panose="020B0604020202020204" pitchFamily="34" charset="0"/>
                <a:cs typeface="Arial" panose="020B0604020202020204" pitchFamily="34" charset="0"/>
              </a:rPr>
              <a:t>ChromaDB</a:t>
            </a:r>
            <a:r>
              <a:rPr lang="en-IN" sz="2400" b="1">
                <a:latin typeface="Arial" panose="020B0604020202020204" pitchFamily="34" charset="0"/>
                <a:cs typeface="Arial" panose="020B0604020202020204" pitchFamily="34" charset="0"/>
              </a:rPr>
              <a:t> (RAG) </a:t>
            </a:r>
            <a:r>
              <a:rPr lang="en-IN" sz="2400">
                <a:latin typeface="Arial" panose="020B0604020202020204" pitchFamily="34" charset="0"/>
                <a:cs typeface="Arial" panose="020B0604020202020204" pitchFamily="34" charset="0"/>
              </a:rPr>
              <a:t>– Stores and retrieves contextual knowledge for AI responses. </a:t>
            </a:r>
          </a:p>
          <a:p>
            <a:pPr>
              <a:lnSpc>
                <a:spcPct val="150000"/>
              </a:lnSpc>
            </a:pPr>
            <a:r>
              <a:rPr lang="en-IN" sz="2400" b="1">
                <a:latin typeface="Arial" panose="020B0604020202020204" pitchFamily="34" charset="0"/>
                <a:cs typeface="Arial" panose="020B0604020202020204" pitchFamily="34" charset="0"/>
              </a:rPr>
              <a:t>Chart.js </a:t>
            </a:r>
            <a:r>
              <a:rPr lang="en-IN" sz="2400">
                <a:latin typeface="Arial" panose="020B0604020202020204" pitchFamily="34" charset="0"/>
                <a:cs typeface="Arial" panose="020B0604020202020204" pitchFamily="34" charset="0"/>
              </a:rPr>
              <a:t>– Visualizes analytics, trends, and engagement metrics. </a:t>
            </a:r>
          </a:p>
          <a:p>
            <a:pPr>
              <a:lnSpc>
                <a:spcPct val="150000"/>
              </a:lnSpc>
            </a:pPr>
            <a:r>
              <a:rPr lang="en-IN" sz="2400" b="1">
                <a:latin typeface="Arial" panose="020B0604020202020204" pitchFamily="34" charset="0"/>
                <a:cs typeface="Arial" panose="020B0604020202020204" pitchFamily="34" charset="0"/>
              </a:rPr>
              <a:t>IBM Cloud </a:t>
            </a:r>
            <a:r>
              <a:rPr lang="en-IN" sz="2400">
                <a:latin typeface="Arial" panose="020B0604020202020204" pitchFamily="34" charset="0"/>
                <a:cs typeface="Arial" panose="020B0604020202020204" pitchFamily="34" charset="0"/>
              </a:rPr>
              <a:t>– Hosts, deploys, and scales the application. </a:t>
            </a:r>
          </a:p>
          <a:p>
            <a:pPr>
              <a:lnSpc>
                <a:spcPct val="150000"/>
              </a:lnSpc>
            </a:pPr>
            <a:r>
              <a:rPr lang="en-IN" sz="2400" b="1">
                <a:latin typeface="Arial" panose="020B0604020202020204" pitchFamily="34" charset="0"/>
                <a:cs typeface="Arial" panose="020B0604020202020204" pitchFamily="34" charset="0"/>
              </a:rPr>
              <a:t>Social Media APIs </a:t>
            </a:r>
            <a:r>
              <a:rPr lang="en-IN" sz="2400">
                <a:latin typeface="Arial" panose="020B0604020202020204" pitchFamily="34" charset="0"/>
                <a:cs typeface="Arial" panose="020B0604020202020204" pitchFamily="34" charset="0"/>
              </a:rPr>
              <a:t>– Fetch real-time posts, trends, and engagement data from social platforms. </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062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14BE-07D0-9907-69D0-E259B2F83EFB}"/>
              </a:ext>
            </a:extLst>
          </p:cNvPr>
          <p:cNvSpPr>
            <a:spLocks noGrp="1"/>
          </p:cNvSpPr>
          <p:nvPr>
            <p:ph type="title"/>
          </p:nvPr>
        </p:nvSpPr>
        <p:spPr/>
        <p:txBody>
          <a:bodyPr>
            <a:normAutofit/>
          </a:bodyPr>
          <a:lstStyle/>
          <a:p>
            <a:r>
              <a:rPr lang="en-US" sz="2800" b="1" err="1">
                <a:latin typeface="Arial" panose="020B0604020202020204" pitchFamily="34" charset="0"/>
                <a:cs typeface="Arial" panose="020B0604020202020204" pitchFamily="34" charset="0"/>
                <a:sym typeface="Times New Roman"/>
              </a:rPr>
              <a:t>Langflow</a:t>
            </a:r>
            <a:r>
              <a:rPr lang="en-US" sz="2800" b="1" i="0" u="none" strike="noStrike" cap="none">
                <a:solidFill>
                  <a:srgbClr val="051D3A"/>
                </a:solidFill>
                <a:latin typeface="Arial" panose="020B0604020202020204" pitchFamily="34" charset="0"/>
                <a:ea typeface="Times New Roman"/>
                <a:cs typeface="Arial" panose="020B0604020202020204" pitchFamily="34" charset="0"/>
                <a:sym typeface="Times New Roman"/>
              </a:rPr>
              <a:t> </a:t>
            </a:r>
            <a:r>
              <a:rPr lang="en-US" sz="2800" b="1">
                <a:latin typeface="Arial" panose="020B0604020202020204" pitchFamily="34" charset="0"/>
                <a:cs typeface="Arial" panose="020B0604020202020204" pitchFamily="34" charset="0"/>
                <a:sym typeface="Times New Roman"/>
              </a:rPr>
              <a:t>component Used -</a:t>
            </a:r>
            <a:br>
              <a:rPr lang="en-US" sz="2800" b="1">
                <a:latin typeface="Arial" panose="020B0604020202020204" pitchFamily="34" charset="0"/>
                <a:cs typeface="Arial" panose="020B0604020202020204" pitchFamily="34" charset="0"/>
                <a:sym typeface="Times New Roman"/>
              </a:rPr>
            </a:br>
            <a:endParaRPr lang="en-IN"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3BD14F0-D0BE-683E-29C4-6B01A322E29A}"/>
              </a:ext>
            </a:extLst>
          </p:cNvPr>
          <p:cNvSpPr>
            <a:spLocks noGrp="1"/>
          </p:cNvSpPr>
          <p:nvPr>
            <p:ph idx="1"/>
          </p:nvPr>
        </p:nvSpPr>
        <p:spPr>
          <a:xfrm>
            <a:off x="695325" y="1425575"/>
            <a:ext cx="10515600" cy="4351338"/>
          </a:xfrm>
        </p:spPr>
        <p:txBody>
          <a:bodyPr>
            <a:noAutofit/>
          </a:bodyPr>
          <a:lstStyle/>
          <a:p>
            <a:pPr>
              <a:lnSpc>
                <a:spcPct val="150000"/>
              </a:lnSpc>
            </a:pPr>
            <a:r>
              <a:rPr lang="en-IN" sz="2000" b="1">
                <a:latin typeface="Arial" panose="020B0604020202020204" pitchFamily="34" charset="0"/>
                <a:cs typeface="Arial" panose="020B0604020202020204" pitchFamily="34" charset="0"/>
              </a:rPr>
              <a:t>Chat Input – </a:t>
            </a:r>
            <a:r>
              <a:rPr lang="en-IN" sz="2000">
                <a:latin typeface="Arial" panose="020B0604020202020204" pitchFamily="34" charset="0"/>
                <a:cs typeface="Arial" panose="020B0604020202020204" pitchFamily="34" charset="0"/>
              </a:rPr>
              <a:t>Receives user queries. </a:t>
            </a:r>
          </a:p>
          <a:p>
            <a:pPr>
              <a:lnSpc>
                <a:spcPct val="150000"/>
              </a:lnSpc>
            </a:pPr>
            <a:r>
              <a:rPr lang="en-IN" sz="2000" b="1">
                <a:latin typeface="Arial" panose="020B0604020202020204" pitchFamily="34" charset="0"/>
                <a:cs typeface="Arial" panose="020B0604020202020204" pitchFamily="34" charset="0"/>
              </a:rPr>
              <a:t>Prompt Template – </a:t>
            </a:r>
            <a:r>
              <a:rPr lang="en-IN" sz="2000">
                <a:latin typeface="Arial" panose="020B0604020202020204" pitchFamily="34" charset="0"/>
                <a:cs typeface="Arial" panose="020B0604020202020204" pitchFamily="34" charset="0"/>
              </a:rPr>
              <a:t>Structures AI prompts. </a:t>
            </a:r>
          </a:p>
          <a:p>
            <a:pPr>
              <a:lnSpc>
                <a:spcPct val="150000"/>
              </a:lnSpc>
            </a:pPr>
            <a:r>
              <a:rPr lang="en-IN" sz="2000" b="1">
                <a:latin typeface="Arial" panose="020B0604020202020204" pitchFamily="34" charset="0"/>
                <a:cs typeface="Arial" panose="020B0604020202020204" pitchFamily="34" charset="0"/>
              </a:rPr>
              <a:t>IBM Granite Model – </a:t>
            </a:r>
            <a:r>
              <a:rPr lang="en-IN" sz="2000">
                <a:latin typeface="Arial" panose="020B0604020202020204" pitchFamily="34" charset="0"/>
                <a:cs typeface="Arial" panose="020B0604020202020204" pitchFamily="34" charset="0"/>
              </a:rPr>
              <a:t>Generates AI responses. </a:t>
            </a:r>
          </a:p>
          <a:p>
            <a:pPr>
              <a:lnSpc>
                <a:spcPct val="150000"/>
              </a:lnSpc>
            </a:pPr>
            <a:r>
              <a:rPr lang="en-IN" sz="2000" b="1">
                <a:latin typeface="Arial" panose="020B0604020202020204" pitchFamily="34" charset="0"/>
                <a:cs typeface="Arial" panose="020B0604020202020204" pitchFamily="34" charset="0"/>
              </a:rPr>
              <a:t>Agent – </a:t>
            </a:r>
            <a:r>
              <a:rPr lang="en-IN" sz="2000">
                <a:latin typeface="Arial" panose="020B0604020202020204" pitchFamily="34" charset="0"/>
                <a:cs typeface="Arial" panose="020B0604020202020204" pitchFamily="34" charset="0"/>
              </a:rPr>
              <a:t>Performs specialized AI tasks. </a:t>
            </a:r>
          </a:p>
          <a:p>
            <a:pPr>
              <a:lnSpc>
                <a:spcPct val="150000"/>
              </a:lnSpc>
            </a:pPr>
            <a:r>
              <a:rPr lang="en-IN" sz="2000" b="1">
                <a:latin typeface="Arial" panose="020B0604020202020204" pitchFamily="34" charset="0"/>
                <a:cs typeface="Arial" panose="020B0604020202020204" pitchFamily="34" charset="0"/>
              </a:rPr>
              <a:t>HTTP Request – </a:t>
            </a:r>
            <a:r>
              <a:rPr lang="en-IN" sz="2000">
                <a:latin typeface="Arial" panose="020B0604020202020204" pitchFamily="34" charset="0"/>
                <a:cs typeface="Arial" panose="020B0604020202020204" pitchFamily="34" charset="0"/>
              </a:rPr>
              <a:t>Connects to social media APIs. </a:t>
            </a:r>
          </a:p>
          <a:p>
            <a:pPr>
              <a:lnSpc>
                <a:spcPct val="150000"/>
              </a:lnSpc>
            </a:pPr>
            <a:r>
              <a:rPr lang="en-IN" sz="2000" b="1">
                <a:latin typeface="Arial" panose="020B0604020202020204" pitchFamily="34" charset="0"/>
                <a:cs typeface="Arial" panose="020B0604020202020204" pitchFamily="34" charset="0"/>
              </a:rPr>
              <a:t>Retriever (RAG) – </a:t>
            </a:r>
            <a:r>
              <a:rPr lang="en-IN" sz="2000">
                <a:latin typeface="Arial" panose="020B0604020202020204" pitchFamily="34" charset="0"/>
                <a:cs typeface="Arial" panose="020B0604020202020204" pitchFamily="34" charset="0"/>
              </a:rPr>
              <a:t>Fetches relevant knowledge. </a:t>
            </a:r>
          </a:p>
          <a:p>
            <a:pPr>
              <a:lnSpc>
                <a:spcPct val="150000"/>
              </a:lnSpc>
            </a:pPr>
            <a:r>
              <a:rPr lang="en-IN" sz="2000" b="1">
                <a:latin typeface="Arial" panose="020B0604020202020204" pitchFamily="34" charset="0"/>
                <a:cs typeface="Arial" panose="020B0604020202020204" pitchFamily="34" charset="0"/>
              </a:rPr>
              <a:t>Memory – </a:t>
            </a:r>
            <a:r>
              <a:rPr lang="en-IN" sz="2000">
                <a:latin typeface="Arial" panose="020B0604020202020204" pitchFamily="34" charset="0"/>
                <a:cs typeface="Arial" panose="020B0604020202020204" pitchFamily="34" charset="0"/>
              </a:rPr>
              <a:t>Maintains conversation context. </a:t>
            </a:r>
          </a:p>
          <a:p>
            <a:pPr>
              <a:lnSpc>
                <a:spcPct val="150000"/>
              </a:lnSpc>
            </a:pPr>
            <a:r>
              <a:rPr lang="en-IN" sz="2000" b="1">
                <a:latin typeface="Arial" panose="020B0604020202020204" pitchFamily="34" charset="0"/>
                <a:cs typeface="Arial" panose="020B0604020202020204" pitchFamily="34" charset="0"/>
              </a:rPr>
              <a:t>Chat Output – </a:t>
            </a:r>
            <a:r>
              <a:rPr lang="en-IN" sz="2000">
                <a:latin typeface="Arial" panose="020B0604020202020204" pitchFamily="34" charset="0"/>
                <a:cs typeface="Arial" panose="020B0604020202020204" pitchFamily="34" charset="0"/>
              </a:rPr>
              <a:t>Displays the final response.</a:t>
            </a:r>
          </a:p>
        </p:txBody>
      </p:sp>
    </p:spTree>
    <p:extLst>
      <p:ext uri="{BB962C8B-B14F-4D97-AF65-F5344CB8AC3E}">
        <p14:creationId xmlns:p14="http://schemas.microsoft.com/office/powerpoint/2010/main" val="2759071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144-A2C8-B11E-CCE3-E1DC72B9A8B0}"/>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Role of Agentic AI in the Solution</a:t>
            </a:r>
          </a:p>
        </p:txBody>
      </p:sp>
      <p:sp>
        <p:nvSpPr>
          <p:cNvPr id="3" name="Content Placeholder 2">
            <a:extLst>
              <a:ext uri="{FF2B5EF4-FFF2-40B4-BE49-F238E27FC236}">
                <a16:creationId xmlns:a16="http://schemas.microsoft.com/office/drawing/2014/main" id="{E72DCB59-825D-41D0-C02F-9764603318D9}"/>
              </a:ext>
            </a:extLst>
          </p:cNvPr>
          <p:cNvSpPr>
            <a:spLocks noGrp="1"/>
          </p:cNvSpPr>
          <p:nvPr>
            <p:ph idx="1"/>
          </p:nvPr>
        </p:nvSpPr>
        <p:spPr>
          <a:xfrm>
            <a:off x="190500" y="1482725"/>
            <a:ext cx="11677650" cy="4351338"/>
          </a:xfrm>
        </p:spPr>
        <p:txBody>
          <a:bodyPr>
            <a:normAutofit/>
          </a:bodyPr>
          <a:lstStyle/>
          <a:p>
            <a:pPr lvl="1">
              <a:lnSpc>
                <a:spcPct val="150000"/>
              </a:lnSpc>
            </a:pPr>
            <a:r>
              <a:rPr lang="en-IN" sz="2000" b="1">
                <a:latin typeface="Arial" panose="020B0604020202020204" pitchFamily="34" charset="0"/>
                <a:cs typeface="Arial" panose="020B0604020202020204" pitchFamily="34" charset="0"/>
              </a:rPr>
              <a:t>Agentic AI </a:t>
            </a:r>
            <a:r>
              <a:rPr lang="en-IN" sz="2000">
                <a:latin typeface="Arial" panose="020B0604020202020204" pitchFamily="34" charset="0"/>
                <a:cs typeface="Arial" panose="020B0604020202020204" pitchFamily="34" charset="0"/>
              </a:rPr>
              <a:t>enables </a:t>
            </a:r>
            <a:r>
              <a:rPr lang="en-IN" sz="2000" err="1">
                <a:latin typeface="Arial" panose="020B0604020202020204" pitchFamily="34" charset="0"/>
                <a:cs typeface="Arial" panose="020B0604020202020204" pitchFamily="34" charset="0"/>
              </a:rPr>
              <a:t>SocialSense</a:t>
            </a:r>
            <a:r>
              <a:rPr lang="en-IN" sz="2000">
                <a:latin typeface="Arial" panose="020B0604020202020204" pitchFamily="34" charset="0"/>
                <a:cs typeface="Arial" panose="020B0604020202020204" pitchFamily="34" charset="0"/>
              </a:rPr>
              <a:t> AI to autonomously perform specialized tasks through multiple intelligent agents that collaborate to achieve a common goal. Each agent is responsible for a specific function, such as collecting social media data, </a:t>
            </a:r>
            <a:r>
              <a:rPr lang="en-IN" sz="2000" err="1">
                <a:latin typeface="Arial" panose="020B0604020202020204" pitchFamily="34" charset="0"/>
                <a:cs typeface="Arial" panose="020B0604020202020204" pitchFamily="34" charset="0"/>
              </a:rPr>
              <a:t>analyzing</a:t>
            </a:r>
            <a:r>
              <a:rPr lang="en-IN" sz="2000">
                <a:latin typeface="Arial" panose="020B0604020202020204" pitchFamily="34" charset="0"/>
                <a:cs typeface="Arial" panose="020B0604020202020204" pitchFamily="34" charset="0"/>
              </a:rPr>
              <a:t> trends, generating content, monitoring competitors, and predicting engagement. The agents communicate through an orchestrator, allowing the system to make context-aware decisions, automate workflows, and provide actionable recommendations with minimal user intervention.</a:t>
            </a:r>
          </a:p>
        </p:txBody>
      </p:sp>
    </p:spTree>
    <p:extLst>
      <p:ext uri="{BB962C8B-B14F-4D97-AF65-F5344CB8AC3E}">
        <p14:creationId xmlns:p14="http://schemas.microsoft.com/office/powerpoint/2010/main" val="163646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CBED-D5A6-6833-DEFD-F0305C82BBCF}"/>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Novelty &amp; Uniqueness</a:t>
            </a:r>
          </a:p>
        </p:txBody>
      </p:sp>
      <p:sp>
        <p:nvSpPr>
          <p:cNvPr id="3" name="Content Placeholder 2">
            <a:extLst>
              <a:ext uri="{FF2B5EF4-FFF2-40B4-BE49-F238E27FC236}">
                <a16:creationId xmlns:a16="http://schemas.microsoft.com/office/drawing/2014/main" id="{65A7C2C1-103C-05FF-AFCB-775BD5CF86E0}"/>
              </a:ext>
            </a:extLst>
          </p:cNvPr>
          <p:cNvSpPr>
            <a:spLocks noGrp="1"/>
          </p:cNvSpPr>
          <p:nvPr>
            <p:ph idx="1"/>
          </p:nvPr>
        </p:nvSpPr>
        <p:spPr>
          <a:xfrm>
            <a:off x="581025" y="1520824"/>
            <a:ext cx="11315700" cy="4784725"/>
          </a:xfrm>
        </p:spPr>
        <p:txBody>
          <a:bodyPr>
            <a:noAutofit/>
          </a:bodyPr>
          <a:lstStyle/>
          <a:p>
            <a:pPr>
              <a:lnSpc>
                <a:spcPct val="100000"/>
              </a:lnSpc>
            </a:pPr>
            <a:r>
              <a:rPr lang="en-IN" sz="2000" b="1">
                <a:latin typeface="Arial" panose="020B0604020202020204" pitchFamily="34" charset="0"/>
                <a:cs typeface="Arial" panose="020B0604020202020204" pitchFamily="34" charset="0"/>
              </a:rPr>
              <a:t>Multi-Agent AI Architecture: </a:t>
            </a:r>
            <a:r>
              <a:rPr lang="en-IN" sz="2000">
                <a:latin typeface="Arial" panose="020B0604020202020204" pitchFamily="34" charset="0"/>
                <a:cs typeface="Arial" panose="020B0604020202020204" pitchFamily="34" charset="0"/>
              </a:rPr>
              <a:t>Uses specialized AI agents for content generation, trend analysis, sentiment analysis, competitor monitoring, and campaign recommendations. </a:t>
            </a:r>
          </a:p>
          <a:p>
            <a:pPr>
              <a:lnSpc>
                <a:spcPct val="100000"/>
              </a:lnSpc>
            </a:pPr>
            <a:r>
              <a:rPr lang="en-IN" sz="2000" b="1">
                <a:latin typeface="Arial" panose="020B0604020202020204" pitchFamily="34" charset="0"/>
                <a:cs typeface="Arial" panose="020B0604020202020204" pitchFamily="34" charset="0"/>
              </a:rPr>
              <a:t>Unified Social Intelligence: </a:t>
            </a:r>
            <a:r>
              <a:rPr lang="en-IN" sz="2000">
                <a:latin typeface="Arial" panose="020B0604020202020204" pitchFamily="34" charset="0"/>
                <a:cs typeface="Arial" panose="020B0604020202020204" pitchFamily="34" charset="0"/>
              </a:rPr>
              <a:t>Combines data from multiple social media platforms into a single dashboard for comprehensive insights. </a:t>
            </a:r>
          </a:p>
          <a:p>
            <a:pPr>
              <a:lnSpc>
                <a:spcPct val="100000"/>
              </a:lnSpc>
            </a:pPr>
            <a:r>
              <a:rPr lang="en-IN" sz="2000" b="1">
                <a:latin typeface="Arial" panose="020B0604020202020204" pitchFamily="34" charset="0"/>
                <a:cs typeface="Arial" panose="020B0604020202020204" pitchFamily="34" charset="0"/>
              </a:rPr>
              <a:t>Predictive Analytics: </a:t>
            </a:r>
            <a:r>
              <a:rPr lang="en-IN" sz="2000">
                <a:latin typeface="Arial" panose="020B0604020202020204" pitchFamily="34" charset="0"/>
                <a:cs typeface="Arial" panose="020B0604020202020204" pitchFamily="34" charset="0"/>
              </a:rPr>
              <a:t>Forecasts trending hashtags, audience engagement, and optimal posting schedules using AI. </a:t>
            </a:r>
          </a:p>
          <a:p>
            <a:pPr>
              <a:lnSpc>
                <a:spcPct val="100000"/>
              </a:lnSpc>
            </a:pPr>
            <a:r>
              <a:rPr lang="en-IN" sz="2000" b="1">
                <a:latin typeface="Arial" panose="020B0604020202020204" pitchFamily="34" charset="0"/>
                <a:cs typeface="Arial" panose="020B0604020202020204" pitchFamily="34" charset="0"/>
              </a:rPr>
              <a:t>Brand-Aware Content Generation: </a:t>
            </a:r>
            <a:r>
              <a:rPr lang="en-IN" sz="2000">
                <a:latin typeface="Arial" panose="020B0604020202020204" pitchFamily="34" charset="0"/>
                <a:cs typeface="Arial" panose="020B0604020202020204" pitchFamily="34" charset="0"/>
              </a:rPr>
              <a:t>Generates personalized, platform-specific content that aligns with the user's brand voice. </a:t>
            </a:r>
          </a:p>
          <a:p>
            <a:pPr>
              <a:lnSpc>
                <a:spcPct val="100000"/>
              </a:lnSpc>
            </a:pPr>
            <a:r>
              <a:rPr lang="en-IN" sz="2000" b="1">
                <a:latin typeface="Arial" panose="020B0604020202020204" pitchFamily="34" charset="0"/>
                <a:cs typeface="Arial" panose="020B0604020202020204" pitchFamily="34" charset="0"/>
              </a:rPr>
              <a:t>IBM Agentic AI Powered: </a:t>
            </a:r>
            <a:r>
              <a:rPr lang="en-IN" sz="2000">
                <a:latin typeface="Arial" panose="020B0604020202020204" pitchFamily="34" charset="0"/>
                <a:cs typeface="Arial" panose="020B0604020202020204" pitchFamily="34" charset="0"/>
              </a:rPr>
              <a:t>Leverages IBM watsonx.ai, IBM Orchestrate, and </a:t>
            </a:r>
            <a:r>
              <a:rPr lang="en-IN" sz="2000" err="1">
                <a:latin typeface="Arial" panose="020B0604020202020204" pitchFamily="34" charset="0"/>
                <a:cs typeface="Arial" panose="020B0604020202020204" pitchFamily="34" charset="0"/>
              </a:rPr>
              <a:t>Langflow</a:t>
            </a:r>
            <a:r>
              <a:rPr lang="en-IN" sz="2000">
                <a:latin typeface="Arial" panose="020B0604020202020204" pitchFamily="34" charset="0"/>
                <a:cs typeface="Arial" panose="020B0604020202020204" pitchFamily="34" charset="0"/>
              </a:rPr>
              <a:t> to deliver an intelligent, automated social media assistant. </a:t>
            </a:r>
          </a:p>
          <a:p>
            <a:pPr>
              <a:lnSpc>
                <a:spcPct val="100000"/>
              </a:lnSpc>
            </a:pPr>
            <a:endParaRPr lang="en-IN"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093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DC0BD-722E-4C3D-7D86-27EDC77BE38A}"/>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FBBC8499-95D9-802E-029B-E29E1CAADE03}"/>
              </a:ext>
            </a:extLst>
          </p:cNvPr>
          <p:cNvSpPr>
            <a:spLocks noGrp="1"/>
          </p:cNvSpPr>
          <p:nvPr>
            <p:ph idx="1"/>
          </p:nvPr>
        </p:nvSpPr>
        <p:spPr>
          <a:xfrm>
            <a:off x="838200" y="1435100"/>
            <a:ext cx="10515600" cy="4351338"/>
          </a:xfrm>
        </p:spPr>
        <p:txBody>
          <a:bodyPr>
            <a:noAutofit/>
          </a:bodyPr>
          <a:lstStyle/>
          <a:p>
            <a:pPr>
              <a:lnSpc>
                <a:spcPct val="150000"/>
              </a:lnSpc>
            </a:pPr>
            <a:r>
              <a:rPr lang="en-IN" sz="2000" b="1">
                <a:latin typeface="Arial" panose="020B0604020202020204" pitchFamily="34" charset="0"/>
                <a:cs typeface="Arial" panose="020B0604020202020204" pitchFamily="34" charset="0"/>
              </a:rPr>
              <a:t>Support more social media platforms</a:t>
            </a:r>
            <a:r>
              <a:rPr lang="en-IN" sz="2000">
                <a:latin typeface="Arial" panose="020B0604020202020204" pitchFamily="34" charset="0"/>
                <a:cs typeface="Arial" panose="020B0604020202020204" pitchFamily="34" charset="0"/>
              </a:rPr>
              <a:t> such as YouTube, TikTok, and Threads. </a:t>
            </a:r>
          </a:p>
          <a:p>
            <a:pPr>
              <a:lnSpc>
                <a:spcPct val="150000"/>
              </a:lnSpc>
            </a:pPr>
            <a:r>
              <a:rPr lang="en-IN" sz="2000" b="1">
                <a:latin typeface="Arial" panose="020B0604020202020204" pitchFamily="34" charset="0"/>
                <a:cs typeface="Arial" panose="020B0604020202020204" pitchFamily="34" charset="0"/>
              </a:rPr>
              <a:t>AI-generated images and videos</a:t>
            </a:r>
            <a:r>
              <a:rPr lang="en-IN" sz="2000">
                <a:latin typeface="Arial" panose="020B0604020202020204" pitchFamily="34" charset="0"/>
                <a:cs typeface="Arial" panose="020B0604020202020204" pitchFamily="34" charset="0"/>
              </a:rPr>
              <a:t> for marketing campaigns. </a:t>
            </a:r>
          </a:p>
          <a:p>
            <a:pPr>
              <a:lnSpc>
                <a:spcPct val="150000"/>
              </a:lnSpc>
            </a:pPr>
            <a:r>
              <a:rPr lang="en-IN" sz="2000" b="1">
                <a:latin typeface="Arial" panose="020B0604020202020204" pitchFamily="34" charset="0"/>
                <a:cs typeface="Arial" panose="020B0604020202020204" pitchFamily="34" charset="0"/>
              </a:rPr>
              <a:t>Real-time campaign automation </a:t>
            </a:r>
            <a:r>
              <a:rPr lang="en-IN" sz="2000">
                <a:latin typeface="Arial" panose="020B0604020202020204" pitchFamily="34" charset="0"/>
                <a:cs typeface="Arial" panose="020B0604020202020204" pitchFamily="34" charset="0"/>
              </a:rPr>
              <a:t>with automatic scheduling and publishing. </a:t>
            </a:r>
          </a:p>
          <a:p>
            <a:pPr>
              <a:lnSpc>
                <a:spcPct val="150000"/>
              </a:lnSpc>
            </a:pPr>
            <a:r>
              <a:rPr lang="en-IN" sz="2000" b="1">
                <a:latin typeface="Arial" panose="020B0604020202020204" pitchFamily="34" charset="0"/>
                <a:cs typeface="Arial" panose="020B0604020202020204" pitchFamily="34" charset="0"/>
              </a:rPr>
              <a:t>Multilingual content generation </a:t>
            </a:r>
            <a:r>
              <a:rPr lang="en-IN" sz="2000">
                <a:latin typeface="Arial" panose="020B0604020202020204" pitchFamily="34" charset="0"/>
                <a:cs typeface="Arial" panose="020B0604020202020204" pitchFamily="34" charset="0"/>
              </a:rPr>
              <a:t>to reach global audiences. </a:t>
            </a:r>
          </a:p>
          <a:p>
            <a:pPr>
              <a:lnSpc>
                <a:spcPct val="150000"/>
              </a:lnSpc>
            </a:pPr>
            <a:r>
              <a:rPr lang="en-IN" sz="2000" b="1">
                <a:latin typeface="Arial" panose="020B0604020202020204" pitchFamily="34" charset="0"/>
                <a:cs typeface="Arial" panose="020B0604020202020204" pitchFamily="34" charset="0"/>
              </a:rPr>
              <a:t>Influencer discovery and collaboration </a:t>
            </a:r>
            <a:r>
              <a:rPr lang="en-IN" sz="2000">
                <a:latin typeface="Arial" panose="020B0604020202020204" pitchFamily="34" charset="0"/>
                <a:cs typeface="Arial" panose="020B0604020202020204" pitchFamily="34" charset="0"/>
              </a:rPr>
              <a:t>recommendations using AI. </a:t>
            </a:r>
          </a:p>
          <a:p>
            <a:pPr>
              <a:lnSpc>
                <a:spcPct val="150000"/>
              </a:lnSpc>
            </a:pPr>
            <a:r>
              <a:rPr lang="en-IN" sz="2000" b="1">
                <a:latin typeface="Arial" panose="020B0604020202020204" pitchFamily="34" charset="0"/>
                <a:cs typeface="Arial" panose="020B0604020202020204" pitchFamily="34" charset="0"/>
              </a:rPr>
              <a:t>Advanced predictive analytics</a:t>
            </a:r>
            <a:r>
              <a:rPr lang="en-IN" sz="2000">
                <a:latin typeface="Arial" panose="020B0604020202020204" pitchFamily="34" charset="0"/>
                <a:cs typeface="Arial" panose="020B0604020202020204" pitchFamily="34" charset="0"/>
              </a:rPr>
              <a:t> for campaign ROI and audience growth. </a:t>
            </a:r>
          </a:p>
          <a:p>
            <a:pPr>
              <a:lnSpc>
                <a:spcPct val="150000"/>
              </a:lnSpc>
            </a:pPr>
            <a:r>
              <a:rPr lang="en-IN" sz="2000" b="1">
                <a:latin typeface="Arial" panose="020B0604020202020204" pitchFamily="34" charset="0"/>
                <a:cs typeface="Arial" panose="020B0604020202020204" pitchFamily="34" charset="0"/>
              </a:rPr>
              <a:t>Voice-enabled AI assistant </a:t>
            </a:r>
            <a:r>
              <a:rPr lang="en-IN" sz="2000">
                <a:latin typeface="Arial" panose="020B0604020202020204" pitchFamily="34" charset="0"/>
                <a:cs typeface="Arial" panose="020B0604020202020204" pitchFamily="34" charset="0"/>
              </a:rPr>
              <a:t>for hands-free social media management. </a:t>
            </a:r>
          </a:p>
          <a:p>
            <a:pPr>
              <a:lnSpc>
                <a:spcPct val="150000"/>
              </a:lnSpc>
            </a:pPr>
            <a:r>
              <a:rPr lang="en-IN" sz="2000" b="1">
                <a:latin typeface="Arial" panose="020B0604020202020204" pitchFamily="34" charset="0"/>
                <a:cs typeface="Arial" panose="020B0604020202020204" pitchFamily="34" charset="0"/>
              </a:rPr>
              <a:t>CRM and marketing tool integration </a:t>
            </a:r>
            <a:r>
              <a:rPr lang="en-IN" sz="2000">
                <a:latin typeface="Arial" panose="020B0604020202020204" pitchFamily="34" charset="0"/>
                <a:cs typeface="Arial" panose="020B0604020202020204" pitchFamily="34" charset="0"/>
              </a:rPr>
              <a:t>(Salesforce, HubSpot, etc.) for end-to-end campaign management.</a:t>
            </a:r>
          </a:p>
        </p:txBody>
      </p:sp>
    </p:spTree>
    <p:extLst>
      <p:ext uri="{BB962C8B-B14F-4D97-AF65-F5344CB8AC3E}">
        <p14:creationId xmlns:p14="http://schemas.microsoft.com/office/powerpoint/2010/main" val="1205071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B8C9-FB4E-1C92-652F-5DDB6A2466F8}"/>
              </a:ext>
            </a:extLst>
          </p:cNvPr>
          <p:cNvSpPr>
            <a:spLocks noGrp="1"/>
          </p:cNvSpPr>
          <p:nvPr>
            <p:ph type="title"/>
          </p:nvPr>
        </p:nvSpPr>
        <p:spPr>
          <a:xfrm>
            <a:off x="838199" y="241300"/>
            <a:ext cx="10515600" cy="1325563"/>
          </a:xfrm>
        </p:spPr>
        <p:txBody>
          <a:bodyPr>
            <a:normAutofit/>
          </a:bodyPr>
          <a:lstStyle/>
          <a:p>
            <a:r>
              <a:rPr lang="en-US" sz="2800" b="1">
                <a:latin typeface="Arial" panose="020B0604020202020204" pitchFamily="34" charset="0"/>
                <a:cs typeface="Arial" panose="020B0604020202020204" pitchFamily="34" charset="0"/>
              </a:rPr>
              <a:t>Certificates Earned</a:t>
            </a:r>
            <a:endParaRPr lang="en-IN" sz="2800" b="1">
              <a:latin typeface="Arial" panose="020B060402020202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F3C5B0E7-1EF1-B98C-C61D-C4965C06CD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0517" y="1380136"/>
            <a:ext cx="6670965" cy="5006377"/>
          </a:xfrm>
          <a:prstGeom prst="rect">
            <a:avLst/>
          </a:prstGeom>
        </p:spPr>
      </p:pic>
    </p:spTree>
    <p:extLst>
      <p:ext uri="{BB962C8B-B14F-4D97-AF65-F5344CB8AC3E}">
        <p14:creationId xmlns:p14="http://schemas.microsoft.com/office/powerpoint/2010/main" val="3639240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B5FA-AD94-6710-1F61-71752579AE92}"/>
              </a:ext>
            </a:extLst>
          </p:cNvPr>
          <p:cNvSpPr>
            <a:spLocks noGrp="1"/>
          </p:cNvSpPr>
          <p:nvPr>
            <p:ph type="title"/>
          </p:nvPr>
        </p:nvSpPr>
        <p:spPr/>
        <p:txBody>
          <a:bodyPr>
            <a:normAutofit/>
          </a:bodyPr>
          <a:lstStyle/>
          <a:p>
            <a:r>
              <a:rPr lang="en-US" sz="2800" b="1">
                <a:latin typeface="Arial" panose="020B0604020202020204" pitchFamily="34" charset="0"/>
                <a:cs typeface="Arial" panose="020B0604020202020204" pitchFamily="34" charset="0"/>
              </a:rPr>
              <a:t>Certificates Earned</a:t>
            </a:r>
            <a:endParaRPr lang="en-IN" sz="2800" b="1">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CB542FBB-B553-E47A-433C-F2A353FA5604}"/>
              </a:ext>
            </a:extLst>
          </p:cNvPr>
          <p:cNvPicPr>
            <a:picLocks noGrp="1" noChangeAspect="1"/>
          </p:cNvPicPr>
          <p:nvPr>
            <p:ph idx="1"/>
          </p:nvPr>
        </p:nvPicPr>
        <p:blipFill>
          <a:blip r:embed="rId2"/>
          <a:stretch>
            <a:fillRect/>
          </a:stretch>
        </p:blipFill>
        <p:spPr>
          <a:xfrm>
            <a:off x="2567618" y="1433740"/>
            <a:ext cx="7688135" cy="4743223"/>
          </a:xfrm>
          <a:prstGeom prst="rect">
            <a:avLst/>
          </a:prstGeom>
        </p:spPr>
      </p:pic>
    </p:spTree>
    <p:extLst>
      <p:ext uri="{BB962C8B-B14F-4D97-AF65-F5344CB8AC3E}">
        <p14:creationId xmlns:p14="http://schemas.microsoft.com/office/powerpoint/2010/main" val="538313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BE9B1-FA2E-2A14-39D7-C3E6887BEED1}"/>
              </a:ext>
            </a:extLst>
          </p:cNvPr>
          <p:cNvSpPr txBox="1"/>
          <p:nvPr/>
        </p:nvSpPr>
        <p:spPr>
          <a:xfrm>
            <a:off x="2981325" y="2566719"/>
            <a:ext cx="7905750" cy="1323439"/>
          </a:xfrm>
          <a:prstGeom prst="rect">
            <a:avLst/>
          </a:prstGeom>
          <a:noFill/>
        </p:spPr>
        <p:txBody>
          <a:bodyPr wrap="square" rtlCol="0">
            <a:spAutoFit/>
          </a:bodyPr>
          <a:lstStyle/>
          <a:p>
            <a:r>
              <a:rPr lang="en-US" sz="8000">
                <a:latin typeface="Arial" panose="020B0604020202020204" pitchFamily="34" charset="0"/>
                <a:cs typeface="Arial" panose="020B0604020202020204" pitchFamily="34" charset="0"/>
              </a:rPr>
              <a:t>THANK YOU</a:t>
            </a:r>
            <a:endParaRPr lang="en-IN" sz="8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0559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IBM University Engagement Project Submission</vt:lpstr>
      <vt:lpstr>Project Title – Social Media Agent</vt:lpstr>
      <vt:lpstr>Problem Statement- Social Media Agent </vt:lpstr>
      <vt:lpstr>Proposed Solution </vt:lpstr>
      <vt:lpstr>Technologies Used </vt:lpstr>
      <vt:lpstr>Langflow component Used - </vt:lpstr>
      <vt:lpstr>Role of Agentic AI in the Solution</vt:lpstr>
      <vt:lpstr>Novelty &amp; Uniqueness</vt:lpstr>
      <vt:lpstr>Future Scope</vt:lpstr>
      <vt:lpstr>Certificates Earned</vt:lpstr>
      <vt:lpstr>Certificates Earned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Tanish Chogale</dc:creator>
  <cp:revision>5</cp:revision>
  <dcterms:created xsi:type="dcterms:W3CDTF">2026-07-14T17:41:25Z</dcterms:created>
  <dcterms:modified xsi:type="dcterms:W3CDTF">2026-07-15T03:36:59Z</dcterms:modified>
</cp:coreProperties>
</file>