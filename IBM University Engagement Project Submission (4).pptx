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9" r:id="rId7"/>
    <p:sldId id="261" r:id="rId8"/>
    <p:sldId id="262" r:id="rId9"/>
    <p:sldId id="263" r:id="rId10"/>
    <p:sldId id="264" r:id="rId11"/>
    <p:sldId id="265" r:id="rId12"/>
    <p:sldId id="268" r:id="rId13"/>
    <p:sldId id="266" r:id="rId14"/>
    <p:sldId id="26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4982C5-6CE2-41A9-8257-FFAC55A4C26B}" v="2" dt="2026-07-14T18:28:36.443"/>
    <p1510:client id="{B5B6E0DC-874A-5134-A69C-A9423E18F5C0}" v="103" dt="2026-07-14T18:29:04.098"/>
    <p1510:client id="{BAB55036-F139-2CC3-3685-525D86934BEB}" v="31" dt="2026-07-15T05:04:26.030"/>
    <p1510:client id="{FD34EF93-0A58-8D5E-4557-F75E7DA590F2}" v="35" dt="2026-07-15T06:47:30.6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12CF3-7582-15B0-4E5E-00F200ABD97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83A6627-3652-7F3D-E0E8-0212311482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96BCB94-5C37-4C28-3614-3E74697D6E04}"/>
              </a:ext>
            </a:extLst>
          </p:cNvPr>
          <p:cNvSpPr>
            <a:spLocks noGrp="1"/>
          </p:cNvSpPr>
          <p:nvPr>
            <p:ph type="dt" sz="half" idx="10"/>
          </p:nvPr>
        </p:nvSpPr>
        <p:spPr/>
        <p:txBody>
          <a:bodyPr/>
          <a:lstStyle/>
          <a:p>
            <a:fld id="{FE1179DB-9F55-4648-99A9-8194E4F919E2}" type="datetimeFigureOut">
              <a:rPr lang="en-IN" smtClean="0"/>
              <a:t>14-07-2026</a:t>
            </a:fld>
            <a:endParaRPr lang="en-IN"/>
          </a:p>
        </p:txBody>
      </p:sp>
      <p:sp>
        <p:nvSpPr>
          <p:cNvPr id="5" name="Footer Placeholder 4">
            <a:extLst>
              <a:ext uri="{FF2B5EF4-FFF2-40B4-BE49-F238E27FC236}">
                <a16:creationId xmlns:a16="http://schemas.microsoft.com/office/drawing/2014/main" id="{1184B516-4A5A-C154-3817-EA3FD306E7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400291-C543-A516-D34E-22A24A6B6EFF}"/>
              </a:ext>
            </a:extLst>
          </p:cNvPr>
          <p:cNvSpPr>
            <a:spLocks noGrp="1"/>
          </p:cNvSpPr>
          <p:nvPr>
            <p:ph type="sldNum" sz="quarter" idx="12"/>
          </p:nvPr>
        </p:nvSpPr>
        <p:spPr/>
        <p:txBody>
          <a:bodyPr/>
          <a:lstStyle/>
          <a:p>
            <a:fld id="{E18675C7-5A5C-49AC-992A-E026BACDADBE}" type="slidenum">
              <a:rPr lang="en-IN" smtClean="0"/>
              <a:t>‹#›</a:t>
            </a:fld>
            <a:endParaRPr lang="en-IN"/>
          </a:p>
        </p:txBody>
      </p:sp>
    </p:spTree>
    <p:extLst>
      <p:ext uri="{BB962C8B-B14F-4D97-AF65-F5344CB8AC3E}">
        <p14:creationId xmlns:p14="http://schemas.microsoft.com/office/powerpoint/2010/main" val="19734905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4BF54-E13B-AA21-6EAE-64F61846E1C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9382970-DE8C-DCAB-9236-528F6F34B5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C4E6BA-2882-51D6-E3C7-68B1924407A1}"/>
              </a:ext>
            </a:extLst>
          </p:cNvPr>
          <p:cNvSpPr>
            <a:spLocks noGrp="1"/>
          </p:cNvSpPr>
          <p:nvPr>
            <p:ph type="dt" sz="half" idx="10"/>
          </p:nvPr>
        </p:nvSpPr>
        <p:spPr/>
        <p:txBody>
          <a:bodyPr/>
          <a:lstStyle/>
          <a:p>
            <a:fld id="{FE1179DB-9F55-4648-99A9-8194E4F919E2}" type="datetimeFigureOut">
              <a:rPr lang="en-IN" smtClean="0"/>
              <a:t>14-07-2026</a:t>
            </a:fld>
            <a:endParaRPr lang="en-IN"/>
          </a:p>
        </p:txBody>
      </p:sp>
      <p:sp>
        <p:nvSpPr>
          <p:cNvPr id="5" name="Footer Placeholder 4">
            <a:extLst>
              <a:ext uri="{FF2B5EF4-FFF2-40B4-BE49-F238E27FC236}">
                <a16:creationId xmlns:a16="http://schemas.microsoft.com/office/drawing/2014/main" id="{855CA509-1C1B-2364-8AEE-CC33DBCA09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185B74-1FCD-0BD5-B450-7FDAD3E3D5D1}"/>
              </a:ext>
            </a:extLst>
          </p:cNvPr>
          <p:cNvSpPr>
            <a:spLocks noGrp="1"/>
          </p:cNvSpPr>
          <p:nvPr>
            <p:ph type="sldNum" sz="quarter" idx="12"/>
          </p:nvPr>
        </p:nvSpPr>
        <p:spPr/>
        <p:txBody>
          <a:bodyPr/>
          <a:lstStyle/>
          <a:p>
            <a:fld id="{E18675C7-5A5C-49AC-992A-E026BACDADBE}" type="slidenum">
              <a:rPr lang="en-IN" smtClean="0"/>
              <a:t>‹#›</a:t>
            </a:fld>
            <a:endParaRPr lang="en-IN"/>
          </a:p>
        </p:txBody>
      </p:sp>
    </p:spTree>
    <p:extLst>
      <p:ext uri="{BB962C8B-B14F-4D97-AF65-F5344CB8AC3E}">
        <p14:creationId xmlns:p14="http://schemas.microsoft.com/office/powerpoint/2010/main" val="33320377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6657D-8662-E8FF-D346-F7ED2FD079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25D9D37-5F94-A4BC-9BB2-56B271182C3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C87E56-6096-E9D1-F551-CE2E8A89E24E}"/>
              </a:ext>
            </a:extLst>
          </p:cNvPr>
          <p:cNvSpPr>
            <a:spLocks noGrp="1"/>
          </p:cNvSpPr>
          <p:nvPr>
            <p:ph type="dt" sz="half" idx="10"/>
          </p:nvPr>
        </p:nvSpPr>
        <p:spPr/>
        <p:txBody>
          <a:bodyPr/>
          <a:lstStyle/>
          <a:p>
            <a:fld id="{FE1179DB-9F55-4648-99A9-8194E4F919E2}" type="datetimeFigureOut">
              <a:rPr lang="en-IN" smtClean="0"/>
              <a:t>14-07-2026</a:t>
            </a:fld>
            <a:endParaRPr lang="en-IN"/>
          </a:p>
        </p:txBody>
      </p:sp>
      <p:sp>
        <p:nvSpPr>
          <p:cNvPr id="5" name="Footer Placeholder 4">
            <a:extLst>
              <a:ext uri="{FF2B5EF4-FFF2-40B4-BE49-F238E27FC236}">
                <a16:creationId xmlns:a16="http://schemas.microsoft.com/office/drawing/2014/main" id="{49098482-BE03-D969-6B8D-4A81130B4A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0AAD22-5C46-CF9B-ACA3-971ECEC60202}"/>
              </a:ext>
            </a:extLst>
          </p:cNvPr>
          <p:cNvSpPr>
            <a:spLocks noGrp="1"/>
          </p:cNvSpPr>
          <p:nvPr>
            <p:ph type="sldNum" sz="quarter" idx="12"/>
          </p:nvPr>
        </p:nvSpPr>
        <p:spPr/>
        <p:txBody>
          <a:bodyPr/>
          <a:lstStyle/>
          <a:p>
            <a:fld id="{E18675C7-5A5C-49AC-992A-E026BACDADBE}" type="slidenum">
              <a:rPr lang="en-IN" smtClean="0"/>
              <a:t>‹#›</a:t>
            </a:fld>
            <a:endParaRPr lang="en-IN"/>
          </a:p>
        </p:txBody>
      </p:sp>
    </p:spTree>
    <p:extLst>
      <p:ext uri="{BB962C8B-B14F-4D97-AF65-F5344CB8AC3E}">
        <p14:creationId xmlns:p14="http://schemas.microsoft.com/office/powerpoint/2010/main" val="40743934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F74F1-EF08-91DA-8F7B-F3FDCC8EF0F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9DA8A0B-EDEC-B426-5EB1-020BA0760A6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B4A680C-182D-2407-0F6C-4334478A2DA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5108439-4C3D-1A1F-1E9E-681DF56FB3B3}"/>
              </a:ext>
            </a:extLst>
          </p:cNvPr>
          <p:cNvSpPr>
            <a:spLocks noGrp="1"/>
          </p:cNvSpPr>
          <p:nvPr>
            <p:ph type="dt" sz="half" idx="10"/>
          </p:nvPr>
        </p:nvSpPr>
        <p:spPr/>
        <p:txBody>
          <a:bodyPr/>
          <a:lstStyle/>
          <a:p>
            <a:fld id="{FE1179DB-9F55-4648-99A9-8194E4F919E2}" type="datetimeFigureOut">
              <a:rPr lang="en-IN" smtClean="0"/>
              <a:t>14-07-2026</a:t>
            </a:fld>
            <a:endParaRPr lang="en-IN"/>
          </a:p>
        </p:txBody>
      </p:sp>
      <p:sp>
        <p:nvSpPr>
          <p:cNvPr id="6" name="Footer Placeholder 5">
            <a:extLst>
              <a:ext uri="{FF2B5EF4-FFF2-40B4-BE49-F238E27FC236}">
                <a16:creationId xmlns:a16="http://schemas.microsoft.com/office/drawing/2014/main" id="{524FD335-5958-B00C-83FF-2307F883E8E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485F643-B389-B032-6F78-C7980491B091}"/>
              </a:ext>
            </a:extLst>
          </p:cNvPr>
          <p:cNvSpPr>
            <a:spLocks noGrp="1"/>
          </p:cNvSpPr>
          <p:nvPr>
            <p:ph type="sldNum" sz="quarter" idx="12"/>
          </p:nvPr>
        </p:nvSpPr>
        <p:spPr/>
        <p:txBody>
          <a:bodyPr/>
          <a:lstStyle/>
          <a:p>
            <a:fld id="{E18675C7-5A5C-49AC-992A-E026BACDADBE}" type="slidenum">
              <a:rPr lang="en-IN" smtClean="0"/>
              <a:t>‹#›</a:t>
            </a:fld>
            <a:endParaRPr lang="en-IN"/>
          </a:p>
        </p:txBody>
      </p:sp>
    </p:spTree>
    <p:extLst>
      <p:ext uri="{BB962C8B-B14F-4D97-AF65-F5344CB8AC3E}">
        <p14:creationId xmlns:p14="http://schemas.microsoft.com/office/powerpoint/2010/main" val="3614526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BD04F-A195-2673-B5BB-5BA591914D2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569F60D-CF17-52D5-90C9-F7966E339E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4557F0C-DF82-27BD-11A9-D0E8709382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84F83F3-253B-93EB-43F7-85C60E0590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1698364-06A4-E0B9-3CC1-C6475215BCC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25F7F1A-D4C1-0610-7B8B-3B67344E01C2}"/>
              </a:ext>
            </a:extLst>
          </p:cNvPr>
          <p:cNvSpPr>
            <a:spLocks noGrp="1"/>
          </p:cNvSpPr>
          <p:nvPr>
            <p:ph type="dt" sz="half" idx="10"/>
          </p:nvPr>
        </p:nvSpPr>
        <p:spPr/>
        <p:txBody>
          <a:bodyPr/>
          <a:lstStyle/>
          <a:p>
            <a:fld id="{FE1179DB-9F55-4648-99A9-8194E4F919E2}" type="datetimeFigureOut">
              <a:rPr lang="en-IN" smtClean="0"/>
              <a:t>14-07-2026</a:t>
            </a:fld>
            <a:endParaRPr lang="en-IN"/>
          </a:p>
        </p:txBody>
      </p:sp>
      <p:sp>
        <p:nvSpPr>
          <p:cNvPr id="8" name="Footer Placeholder 7">
            <a:extLst>
              <a:ext uri="{FF2B5EF4-FFF2-40B4-BE49-F238E27FC236}">
                <a16:creationId xmlns:a16="http://schemas.microsoft.com/office/drawing/2014/main" id="{7D10702E-566F-B86F-2612-8FC84B7ED6F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BF379CF-5D23-C0EE-CB0F-C0ACC4A85484}"/>
              </a:ext>
            </a:extLst>
          </p:cNvPr>
          <p:cNvSpPr>
            <a:spLocks noGrp="1"/>
          </p:cNvSpPr>
          <p:nvPr>
            <p:ph type="sldNum" sz="quarter" idx="12"/>
          </p:nvPr>
        </p:nvSpPr>
        <p:spPr/>
        <p:txBody>
          <a:bodyPr/>
          <a:lstStyle/>
          <a:p>
            <a:fld id="{E18675C7-5A5C-49AC-992A-E026BACDADBE}" type="slidenum">
              <a:rPr lang="en-IN" smtClean="0"/>
              <a:t>‹#›</a:t>
            </a:fld>
            <a:endParaRPr lang="en-IN"/>
          </a:p>
        </p:txBody>
      </p:sp>
    </p:spTree>
    <p:extLst>
      <p:ext uri="{BB962C8B-B14F-4D97-AF65-F5344CB8AC3E}">
        <p14:creationId xmlns:p14="http://schemas.microsoft.com/office/powerpoint/2010/main" val="1932101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7999E-4CAB-487B-F3CE-BEB3013F400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186C0F5-3A49-9394-32CB-C0295C9D23B6}"/>
              </a:ext>
            </a:extLst>
          </p:cNvPr>
          <p:cNvSpPr>
            <a:spLocks noGrp="1"/>
          </p:cNvSpPr>
          <p:nvPr>
            <p:ph type="dt" sz="half" idx="10"/>
          </p:nvPr>
        </p:nvSpPr>
        <p:spPr/>
        <p:txBody>
          <a:bodyPr/>
          <a:lstStyle/>
          <a:p>
            <a:fld id="{FE1179DB-9F55-4648-99A9-8194E4F919E2}" type="datetimeFigureOut">
              <a:rPr lang="en-IN" smtClean="0"/>
              <a:t>14-07-2026</a:t>
            </a:fld>
            <a:endParaRPr lang="en-IN"/>
          </a:p>
        </p:txBody>
      </p:sp>
      <p:sp>
        <p:nvSpPr>
          <p:cNvPr id="4" name="Footer Placeholder 3">
            <a:extLst>
              <a:ext uri="{FF2B5EF4-FFF2-40B4-BE49-F238E27FC236}">
                <a16:creationId xmlns:a16="http://schemas.microsoft.com/office/drawing/2014/main" id="{CB55235E-332D-B68F-514E-6FB4BACD93B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07034BC-B706-7CF2-829B-173C12B5C28E}"/>
              </a:ext>
            </a:extLst>
          </p:cNvPr>
          <p:cNvSpPr>
            <a:spLocks noGrp="1"/>
          </p:cNvSpPr>
          <p:nvPr>
            <p:ph type="sldNum" sz="quarter" idx="12"/>
          </p:nvPr>
        </p:nvSpPr>
        <p:spPr/>
        <p:txBody>
          <a:bodyPr/>
          <a:lstStyle/>
          <a:p>
            <a:fld id="{E18675C7-5A5C-49AC-992A-E026BACDADBE}" type="slidenum">
              <a:rPr lang="en-IN" smtClean="0"/>
              <a:t>‹#›</a:t>
            </a:fld>
            <a:endParaRPr lang="en-IN"/>
          </a:p>
        </p:txBody>
      </p:sp>
    </p:spTree>
    <p:extLst>
      <p:ext uri="{BB962C8B-B14F-4D97-AF65-F5344CB8AC3E}">
        <p14:creationId xmlns:p14="http://schemas.microsoft.com/office/powerpoint/2010/main" val="2145696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935FC0-DBCB-2C33-A7EE-F53A97DEC163}"/>
              </a:ext>
            </a:extLst>
          </p:cNvPr>
          <p:cNvSpPr>
            <a:spLocks noGrp="1"/>
          </p:cNvSpPr>
          <p:nvPr>
            <p:ph type="dt" sz="half" idx="10"/>
          </p:nvPr>
        </p:nvSpPr>
        <p:spPr/>
        <p:txBody>
          <a:bodyPr/>
          <a:lstStyle/>
          <a:p>
            <a:fld id="{FE1179DB-9F55-4648-99A9-8194E4F919E2}" type="datetimeFigureOut">
              <a:rPr lang="en-IN" smtClean="0"/>
              <a:t>14-07-2026</a:t>
            </a:fld>
            <a:endParaRPr lang="en-IN"/>
          </a:p>
        </p:txBody>
      </p:sp>
      <p:sp>
        <p:nvSpPr>
          <p:cNvPr id="3" name="Footer Placeholder 2">
            <a:extLst>
              <a:ext uri="{FF2B5EF4-FFF2-40B4-BE49-F238E27FC236}">
                <a16:creationId xmlns:a16="http://schemas.microsoft.com/office/drawing/2014/main" id="{B1AE30F6-8104-B480-C13C-9F2890DDD66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16DD69F-ED70-C91F-FA68-8B9A70D501A7}"/>
              </a:ext>
            </a:extLst>
          </p:cNvPr>
          <p:cNvSpPr>
            <a:spLocks noGrp="1"/>
          </p:cNvSpPr>
          <p:nvPr>
            <p:ph type="sldNum" sz="quarter" idx="12"/>
          </p:nvPr>
        </p:nvSpPr>
        <p:spPr/>
        <p:txBody>
          <a:bodyPr/>
          <a:lstStyle/>
          <a:p>
            <a:fld id="{E18675C7-5A5C-49AC-992A-E026BACDADBE}" type="slidenum">
              <a:rPr lang="en-IN" smtClean="0"/>
              <a:t>‹#›</a:t>
            </a:fld>
            <a:endParaRPr lang="en-IN"/>
          </a:p>
        </p:txBody>
      </p:sp>
    </p:spTree>
    <p:extLst>
      <p:ext uri="{BB962C8B-B14F-4D97-AF65-F5344CB8AC3E}">
        <p14:creationId xmlns:p14="http://schemas.microsoft.com/office/powerpoint/2010/main" val="1867961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99A5A-99B5-A4DC-F6FF-A87AD9A634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6850905-1768-E92D-7A68-6EBA198C0D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8E4CF4B-3A98-051D-7004-038FCF8883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E86AF0-FA24-3C1A-E27B-ACE4B3D34A09}"/>
              </a:ext>
            </a:extLst>
          </p:cNvPr>
          <p:cNvSpPr>
            <a:spLocks noGrp="1"/>
          </p:cNvSpPr>
          <p:nvPr>
            <p:ph type="dt" sz="half" idx="10"/>
          </p:nvPr>
        </p:nvSpPr>
        <p:spPr/>
        <p:txBody>
          <a:bodyPr/>
          <a:lstStyle/>
          <a:p>
            <a:fld id="{FE1179DB-9F55-4648-99A9-8194E4F919E2}" type="datetimeFigureOut">
              <a:rPr lang="en-IN" smtClean="0"/>
              <a:t>14-07-2026</a:t>
            </a:fld>
            <a:endParaRPr lang="en-IN"/>
          </a:p>
        </p:txBody>
      </p:sp>
      <p:sp>
        <p:nvSpPr>
          <p:cNvPr id="6" name="Footer Placeholder 5">
            <a:extLst>
              <a:ext uri="{FF2B5EF4-FFF2-40B4-BE49-F238E27FC236}">
                <a16:creationId xmlns:a16="http://schemas.microsoft.com/office/drawing/2014/main" id="{20E303E6-E823-4DA4-033B-9ADEA8158E0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020D2B-BC60-E42F-05F1-C22534C78DD9}"/>
              </a:ext>
            </a:extLst>
          </p:cNvPr>
          <p:cNvSpPr>
            <a:spLocks noGrp="1"/>
          </p:cNvSpPr>
          <p:nvPr>
            <p:ph type="sldNum" sz="quarter" idx="12"/>
          </p:nvPr>
        </p:nvSpPr>
        <p:spPr/>
        <p:txBody>
          <a:bodyPr/>
          <a:lstStyle/>
          <a:p>
            <a:fld id="{E18675C7-5A5C-49AC-992A-E026BACDADBE}" type="slidenum">
              <a:rPr lang="en-IN" smtClean="0"/>
              <a:t>‹#›</a:t>
            </a:fld>
            <a:endParaRPr lang="en-IN"/>
          </a:p>
        </p:txBody>
      </p:sp>
    </p:spTree>
    <p:extLst>
      <p:ext uri="{BB962C8B-B14F-4D97-AF65-F5344CB8AC3E}">
        <p14:creationId xmlns:p14="http://schemas.microsoft.com/office/powerpoint/2010/main" val="187190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94EAC-B696-A54A-E4A8-A8B9EBCE29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EC1A820-6214-86D0-63EF-168F1CD567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EB00A14-14FB-779A-A1B5-5A05261892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4DC3A0-3921-247A-52C4-33C2D7187743}"/>
              </a:ext>
            </a:extLst>
          </p:cNvPr>
          <p:cNvSpPr>
            <a:spLocks noGrp="1"/>
          </p:cNvSpPr>
          <p:nvPr>
            <p:ph type="dt" sz="half" idx="10"/>
          </p:nvPr>
        </p:nvSpPr>
        <p:spPr/>
        <p:txBody>
          <a:bodyPr/>
          <a:lstStyle/>
          <a:p>
            <a:fld id="{FE1179DB-9F55-4648-99A9-8194E4F919E2}" type="datetimeFigureOut">
              <a:rPr lang="en-IN" smtClean="0"/>
              <a:t>14-07-2026</a:t>
            </a:fld>
            <a:endParaRPr lang="en-IN"/>
          </a:p>
        </p:txBody>
      </p:sp>
      <p:sp>
        <p:nvSpPr>
          <p:cNvPr id="6" name="Footer Placeholder 5">
            <a:extLst>
              <a:ext uri="{FF2B5EF4-FFF2-40B4-BE49-F238E27FC236}">
                <a16:creationId xmlns:a16="http://schemas.microsoft.com/office/drawing/2014/main" id="{49DBB956-AC34-1DD7-4EA0-E472507EDC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2E6A0C-B4E7-18A4-02D6-658549D64CD2}"/>
              </a:ext>
            </a:extLst>
          </p:cNvPr>
          <p:cNvSpPr>
            <a:spLocks noGrp="1"/>
          </p:cNvSpPr>
          <p:nvPr>
            <p:ph type="sldNum" sz="quarter" idx="12"/>
          </p:nvPr>
        </p:nvSpPr>
        <p:spPr/>
        <p:txBody>
          <a:bodyPr/>
          <a:lstStyle/>
          <a:p>
            <a:fld id="{E18675C7-5A5C-49AC-992A-E026BACDADBE}" type="slidenum">
              <a:rPr lang="en-IN" smtClean="0"/>
              <a:t>‹#›</a:t>
            </a:fld>
            <a:endParaRPr lang="en-IN"/>
          </a:p>
        </p:txBody>
      </p:sp>
    </p:spTree>
    <p:extLst>
      <p:ext uri="{BB962C8B-B14F-4D97-AF65-F5344CB8AC3E}">
        <p14:creationId xmlns:p14="http://schemas.microsoft.com/office/powerpoint/2010/main" val="1285696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7AB68-9334-6AA9-7DA8-330E4746107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D41155F-AD8E-86F0-5617-4876947727C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EC2021-A125-360C-0F5C-1A69E2FFDF54}"/>
              </a:ext>
            </a:extLst>
          </p:cNvPr>
          <p:cNvSpPr>
            <a:spLocks noGrp="1"/>
          </p:cNvSpPr>
          <p:nvPr>
            <p:ph type="dt" sz="half" idx="10"/>
          </p:nvPr>
        </p:nvSpPr>
        <p:spPr/>
        <p:txBody>
          <a:bodyPr/>
          <a:lstStyle/>
          <a:p>
            <a:fld id="{FE1179DB-9F55-4648-99A9-8194E4F919E2}" type="datetimeFigureOut">
              <a:rPr lang="en-IN" smtClean="0"/>
              <a:t>14-07-2026</a:t>
            </a:fld>
            <a:endParaRPr lang="en-IN"/>
          </a:p>
        </p:txBody>
      </p:sp>
      <p:sp>
        <p:nvSpPr>
          <p:cNvPr id="5" name="Footer Placeholder 4">
            <a:extLst>
              <a:ext uri="{FF2B5EF4-FFF2-40B4-BE49-F238E27FC236}">
                <a16:creationId xmlns:a16="http://schemas.microsoft.com/office/drawing/2014/main" id="{8F6F8FA9-D084-9907-7874-69FB535438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4AD986-054E-54AE-BBDB-144F24840D9C}"/>
              </a:ext>
            </a:extLst>
          </p:cNvPr>
          <p:cNvSpPr>
            <a:spLocks noGrp="1"/>
          </p:cNvSpPr>
          <p:nvPr>
            <p:ph type="sldNum" sz="quarter" idx="12"/>
          </p:nvPr>
        </p:nvSpPr>
        <p:spPr/>
        <p:txBody>
          <a:bodyPr/>
          <a:lstStyle/>
          <a:p>
            <a:fld id="{E18675C7-5A5C-49AC-992A-E026BACDADBE}" type="slidenum">
              <a:rPr lang="en-IN" smtClean="0"/>
              <a:t>‹#›</a:t>
            </a:fld>
            <a:endParaRPr lang="en-IN"/>
          </a:p>
        </p:txBody>
      </p:sp>
    </p:spTree>
    <p:extLst>
      <p:ext uri="{BB962C8B-B14F-4D97-AF65-F5344CB8AC3E}">
        <p14:creationId xmlns:p14="http://schemas.microsoft.com/office/powerpoint/2010/main" val="1066342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09A2C3-0E49-634A-5BC2-59C5020F367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C069F06-6ACA-1374-DFA5-96C948AEB3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3946F5-36F6-402F-94D5-8BCB0EACCC1D}"/>
              </a:ext>
            </a:extLst>
          </p:cNvPr>
          <p:cNvSpPr>
            <a:spLocks noGrp="1"/>
          </p:cNvSpPr>
          <p:nvPr>
            <p:ph type="dt" sz="half" idx="10"/>
          </p:nvPr>
        </p:nvSpPr>
        <p:spPr/>
        <p:txBody>
          <a:bodyPr/>
          <a:lstStyle/>
          <a:p>
            <a:fld id="{FE1179DB-9F55-4648-99A9-8194E4F919E2}" type="datetimeFigureOut">
              <a:rPr lang="en-IN" smtClean="0"/>
              <a:t>14-07-2026</a:t>
            </a:fld>
            <a:endParaRPr lang="en-IN"/>
          </a:p>
        </p:txBody>
      </p:sp>
      <p:sp>
        <p:nvSpPr>
          <p:cNvPr id="5" name="Footer Placeholder 4">
            <a:extLst>
              <a:ext uri="{FF2B5EF4-FFF2-40B4-BE49-F238E27FC236}">
                <a16:creationId xmlns:a16="http://schemas.microsoft.com/office/drawing/2014/main" id="{A5CA8EB3-5C5C-40D1-8D15-2BF0FEE3F5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DEB45C-9D6C-7750-9FFC-F373562F3B60}"/>
              </a:ext>
            </a:extLst>
          </p:cNvPr>
          <p:cNvSpPr>
            <a:spLocks noGrp="1"/>
          </p:cNvSpPr>
          <p:nvPr>
            <p:ph type="sldNum" sz="quarter" idx="12"/>
          </p:nvPr>
        </p:nvSpPr>
        <p:spPr/>
        <p:txBody>
          <a:bodyPr/>
          <a:lstStyle/>
          <a:p>
            <a:fld id="{E18675C7-5A5C-49AC-992A-E026BACDADBE}" type="slidenum">
              <a:rPr lang="en-IN" smtClean="0"/>
              <a:t>‹#›</a:t>
            </a:fld>
            <a:endParaRPr lang="en-IN"/>
          </a:p>
        </p:txBody>
      </p:sp>
    </p:spTree>
    <p:extLst>
      <p:ext uri="{BB962C8B-B14F-4D97-AF65-F5344CB8AC3E}">
        <p14:creationId xmlns:p14="http://schemas.microsoft.com/office/powerpoint/2010/main" val="1794392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53ED4A-7010-35A3-ADE6-DDDB3CFC31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67069ED-A2FE-9CC4-58CE-F1810D0F75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1CF541-F98E-560B-2350-F57F83F576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E1179DB-9F55-4648-99A9-8194E4F919E2}" type="datetimeFigureOut">
              <a:rPr lang="en-IN" smtClean="0"/>
              <a:t>14-07-2026</a:t>
            </a:fld>
            <a:endParaRPr lang="en-IN"/>
          </a:p>
        </p:txBody>
      </p:sp>
      <p:sp>
        <p:nvSpPr>
          <p:cNvPr id="5" name="Footer Placeholder 4">
            <a:extLst>
              <a:ext uri="{FF2B5EF4-FFF2-40B4-BE49-F238E27FC236}">
                <a16:creationId xmlns:a16="http://schemas.microsoft.com/office/drawing/2014/main" id="{EE6E5920-A8A4-6C94-5750-05FD88AA77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F069D70-D1E2-FD40-6C8A-022BD0246B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18675C7-5A5C-49AC-992A-E026BACDADBE}" type="slidenum">
              <a:rPr lang="en-IN" smtClean="0"/>
              <a:t>‹#›</a:t>
            </a:fld>
            <a:endParaRPr lang="en-IN"/>
          </a:p>
        </p:txBody>
      </p:sp>
    </p:spTree>
    <p:extLst>
      <p:ext uri="{BB962C8B-B14F-4D97-AF65-F5344CB8AC3E}">
        <p14:creationId xmlns:p14="http://schemas.microsoft.com/office/powerpoint/2010/main" val="37706239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Tanish0607/Social-Sense-AI"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CE30B-C510-CAF8-D6FA-34A30ECD7C57}"/>
              </a:ext>
            </a:extLst>
          </p:cNvPr>
          <p:cNvSpPr>
            <a:spLocks noGrp="1"/>
          </p:cNvSpPr>
          <p:nvPr>
            <p:ph type="ctrTitle"/>
          </p:nvPr>
        </p:nvSpPr>
        <p:spPr/>
        <p:txBody>
          <a:bodyPr>
            <a:normAutofit fontScale="90000"/>
          </a:bodyPr>
          <a:lstStyle/>
          <a:p>
            <a:r>
              <a:rPr lang="en-US" b="1">
                <a:latin typeface="Arial" panose="020B0604020202020204" pitchFamily="34" charset="0"/>
                <a:cs typeface="Arial" panose="020B0604020202020204" pitchFamily="34" charset="0"/>
              </a:rPr>
              <a:t>IBM University Engagement Project Submission</a:t>
            </a:r>
            <a:endParaRPr lang="en-IN">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1E526A8B-BE34-0530-343C-3DDC922C03F3}"/>
              </a:ext>
            </a:extLst>
          </p:cNvPr>
          <p:cNvSpPr>
            <a:spLocks noGrp="1"/>
          </p:cNvSpPr>
          <p:nvPr>
            <p:ph type="subTitle" idx="1"/>
          </p:nvPr>
        </p:nvSpPr>
        <p:spPr/>
        <p:txBody>
          <a:bodyPr/>
          <a:lstStyle/>
          <a:p>
            <a:r>
              <a:rPr lang="en-US" b="1" i="1">
                <a:latin typeface="Arial" panose="020B0604020202020204" pitchFamily="34" charset="0"/>
                <a:cs typeface="Arial" panose="020B0604020202020204" pitchFamily="34" charset="0"/>
              </a:rPr>
              <a:t>“Exploring the Power of Agentic AI with IBM Granite and </a:t>
            </a:r>
            <a:r>
              <a:rPr lang="en-US" b="1" i="1" err="1">
                <a:latin typeface="Arial" panose="020B0604020202020204" pitchFamily="34" charset="0"/>
                <a:cs typeface="Arial" panose="020B0604020202020204" pitchFamily="34" charset="0"/>
              </a:rPr>
              <a:t>LangFlow</a:t>
            </a:r>
            <a:r>
              <a:rPr lang="en-US" b="1" i="1">
                <a:latin typeface="Arial" panose="020B0604020202020204" pitchFamily="34" charset="0"/>
                <a:cs typeface="Arial" panose="020B0604020202020204" pitchFamily="34" charset="0"/>
              </a:rPr>
              <a:t>”</a:t>
            </a:r>
            <a:endParaRPr lang="en-IN">
              <a:latin typeface="Arial" panose="020B0604020202020204" pitchFamily="34" charset="0"/>
              <a:cs typeface="Arial" panose="020B0604020202020204" pitchFamily="34" charset="0"/>
            </a:endParaRPr>
          </a:p>
          <a:p>
            <a:endParaRPr lang="en-I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789754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94A14-0921-3634-1D01-BA0C67C01518}"/>
              </a:ext>
            </a:extLst>
          </p:cNvPr>
          <p:cNvSpPr>
            <a:spLocks noGrp="1"/>
          </p:cNvSpPr>
          <p:nvPr>
            <p:ph type="title"/>
          </p:nvPr>
        </p:nvSpPr>
        <p:spPr/>
        <p:txBody>
          <a:bodyPr>
            <a:normAutofit/>
          </a:bodyPr>
          <a:lstStyle/>
          <a:p>
            <a:r>
              <a:rPr lang="en-US" sz="2800" b="1">
                <a:latin typeface="Arial" panose="020B0604020202020204" pitchFamily="34" charset="0"/>
                <a:cs typeface="Arial" panose="020B0604020202020204" pitchFamily="34" charset="0"/>
              </a:rPr>
              <a:t>Project Title – </a:t>
            </a:r>
            <a:r>
              <a:rPr lang="en-IN" sz="2800">
                <a:latin typeface="Arial" panose="020B0604020202020204" pitchFamily="34" charset="0"/>
                <a:cs typeface="Arial" panose="020B0604020202020204" pitchFamily="34" charset="0"/>
              </a:rPr>
              <a:t>Social Media Agent</a:t>
            </a:r>
          </a:p>
        </p:txBody>
      </p:sp>
      <p:sp>
        <p:nvSpPr>
          <p:cNvPr id="3" name="Content Placeholder 2">
            <a:extLst>
              <a:ext uri="{FF2B5EF4-FFF2-40B4-BE49-F238E27FC236}">
                <a16:creationId xmlns:a16="http://schemas.microsoft.com/office/drawing/2014/main" id="{569A8DA5-4110-9F04-EC13-8ACE7A02D4F6}"/>
              </a:ext>
            </a:extLst>
          </p:cNvPr>
          <p:cNvSpPr>
            <a:spLocks noGrp="1"/>
          </p:cNvSpPr>
          <p:nvPr>
            <p:ph idx="1"/>
          </p:nvPr>
        </p:nvSpPr>
        <p:spPr/>
        <p:txBody>
          <a:bodyPr/>
          <a:lstStyle/>
          <a:p>
            <a:r>
              <a:rPr lang="en-US" sz="2000" b="1">
                <a:latin typeface="Arial" panose="020B0604020202020204" pitchFamily="34" charset="0"/>
                <a:cs typeface="Arial" panose="020B0604020202020204" pitchFamily="34" charset="0"/>
              </a:rPr>
              <a:t>Domain of  Project – </a:t>
            </a:r>
            <a:r>
              <a:rPr lang="en-IN" sz="2000">
                <a:latin typeface="Arial" panose="020B0604020202020204" pitchFamily="34" charset="0"/>
                <a:cs typeface="Arial" panose="020B0604020202020204" pitchFamily="34" charset="0"/>
              </a:rPr>
              <a:t>Artificial Intelligence (AI) &amp; Social Media Analytics</a:t>
            </a:r>
          </a:p>
          <a:p>
            <a:endParaRPr lang="en-IN" b="1">
              <a:highlight>
                <a:srgbClr val="FFFF00"/>
              </a:highlight>
              <a:latin typeface="Arial" panose="020B0604020202020204" pitchFamily="34" charset="0"/>
              <a:cs typeface="Arial" panose="020B0604020202020204" pitchFamily="34" charset="0"/>
            </a:endParaRPr>
          </a:p>
          <a:p>
            <a:endParaRPr lang="en-IN" b="1">
              <a:highlight>
                <a:srgbClr val="FFFF00"/>
              </a:highlight>
              <a:latin typeface="Arial" panose="020B0604020202020204" pitchFamily="34" charset="0"/>
              <a:cs typeface="Arial" panose="020B0604020202020204" pitchFamily="34" charset="0"/>
            </a:endParaRPr>
          </a:p>
          <a:p>
            <a:endParaRPr lang="en-IN" b="1">
              <a:highlight>
                <a:srgbClr val="FFFF00"/>
              </a:highlight>
              <a:latin typeface="Arial" panose="020B0604020202020204" pitchFamily="34" charset="0"/>
              <a:cs typeface="Arial" panose="020B0604020202020204" pitchFamily="34" charset="0"/>
            </a:endParaRPr>
          </a:p>
          <a:p>
            <a:endParaRPr lang="en-IN" b="1">
              <a:highlight>
                <a:srgbClr val="FFFF00"/>
              </a:highlight>
              <a:latin typeface="Arial" panose="020B0604020202020204" pitchFamily="34" charset="0"/>
              <a:cs typeface="Arial" panose="020B0604020202020204" pitchFamily="34" charset="0"/>
            </a:endParaRPr>
          </a:p>
          <a:p>
            <a:endParaRPr lang="en-IN" b="1">
              <a:highlight>
                <a:srgbClr val="FFFF00"/>
              </a:highlight>
              <a:latin typeface="Arial" panose="020B0604020202020204" pitchFamily="34" charset="0"/>
              <a:cs typeface="Arial" panose="020B0604020202020204" pitchFamily="34" charset="0"/>
            </a:endParaRPr>
          </a:p>
          <a:p>
            <a:endParaRPr lang="en-IN" b="1">
              <a:highlight>
                <a:srgbClr val="FFFF00"/>
              </a:highlight>
              <a:latin typeface="Arial" panose="020B0604020202020204" pitchFamily="34" charset="0"/>
              <a:cs typeface="Arial" panose="020B0604020202020204" pitchFamily="34" charset="0"/>
            </a:endParaRPr>
          </a:p>
          <a:p>
            <a:endParaRPr lang="en-IN" b="1">
              <a:highlight>
                <a:srgbClr val="FFFF00"/>
              </a:highlight>
              <a:latin typeface="Arial" panose="020B0604020202020204" pitchFamily="34" charset="0"/>
              <a:cs typeface="Arial" panose="020B0604020202020204" pitchFamily="34" charset="0"/>
            </a:endParaRPr>
          </a:p>
          <a:p>
            <a:endParaRPr lang="en-IN" b="1">
              <a:highlight>
                <a:srgbClr val="FFFF00"/>
              </a:highlight>
              <a:latin typeface="Arial" panose="020B0604020202020204" pitchFamily="34" charset="0"/>
              <a:cs typeface="Arial" panose="020B0604020202020204" pitchFamily="34" charset="0"/>
            </a:endParaRPr>
          </a:p>
          <a:p>
            <a:endParaRPr lang="en-IN" b="1">
              <a:highlight>
                <a:srgbClr val="FFFF00"/>
              </a:highlight>
              <a:latin typeface="Arial" panose="020B0604020202020204" pitchFamily="34" charset="0"/>
              <a:cs typeface="Arial" panose="020B0604020202020204" pitchFamily="34" charset="0"/>
            </a:endParaRPr>
          </a:p>
          <a:p>
            <a:endParaRPr lang="en-IN">
              <a:latin typeface="Arial" panose="020B0604020202020204" pitchFamily="34" charset="0"/>
              <a:cs typeface="Arial" panose="020B0604020202020204" pitchFamily="34" charset="0"/>
            </a:endParaRPr>
          </a:p>
        </p:txBody>
      </p:sp>
      <p:graphicFrame>
        <p:nvGraphicFramePr>
          <p:cNvPr id="7" name="Google Shape;96;p2">
            <a:extLst>
              <a:ext uri="{FF2B5EF4-FFF2-40B4-BE49-F238E27FC236}">
                <a16:creationId xmlns:a16="http://schemas.microsoft.com/office/drawing/2014/main" id="{064677CB-AA17-124A-B205-6DC5D960B467}"/>
              </a:ext>
            </a:extLst>
          </p:cNvPr>
          <p:cNvGraphicFramePr/>
          <p:nvPr>
            <p:extLst>
              <p:ext uri="{D42A27DB-BD31-4B8C-83A1-F6EECF244321}">
                <p14:modId xmlns:p14="http://schemas.microsoft.com/office/powerpoint/2010/main" val="4091707932"/>
              </p:ext>
            </p:extLst>
          </p:nvPr>
        </p:nvGraphicFramePr>
        <p:xfrm>
          <a:off x="1242107" y="2609840"/>
          <a:ext cx="9394989" cy="2167128"/>
        </p:xfrm>
        <a:graphic>
          <a:graphicData uri="http://schemas.openxmlformats.org/drawingml/2006/table">
            <a:tbl>
              <a:tblPr>
                <a:noFill/>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a:t>Tanish </a:t>
                      </a:r>
                      <a:r>
                        <a:rPr lang="en-US" err="1"/>
                        <a:t>Chogale</a:t>
                      </a:r>
                      <a:endParaRPr err="1"/>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400"/>
                        <a:t>tanishchogale@gmail.com</a:t>
                      </a:r>
                      <a:endParaRPr sz="140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a:t>8625044103</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4" name="Picture 3">
            <a:extLst>
              <a:ext uri="{FF2B5EF4-FFF2-40B4-BE49-F238E27FC236}">
                <a16:creationId xmlns:a16="http://schemas.microsoft.com/office/drawing/2014/main" id="{3F1B84E0-2CBD-B6D9-E6A4-01ADAF34E21A}"/>
              </a:ext>
            </a:extLst>
          </p:cNvPr>
          <p:cNvPicPr>
            <a:picLocks noChangeAspect="1"/>
          </p:cNvPicPr>
          <p:nvPr/>
        </p:nvPicPr>
        <p:blipFill>
          <a:blip r:embed="rId2"/>
          <a:stretch>
            <a:fillRect/>
          </a:stretch>
        </p:blipFill>
        <p:spPr>
          <a:xfrm>
            <a:off x="4082142" y="3621313"/>
            <a:ext cx="1030515" cy="1030515"/>
          </a:xfrm>
          <a:prstGeom prst="rect">
            <a:avLst/>
          </a:prstGeom>
        </p:spPr>
      </p:pic>
    </p:spTree>
    <p:extLst>
      <p:ext uri="{BB962C8B-B14F-4D97-AF65-F5344CB8AC3E}">
        <p14:creationId xmlns:p14="http://schemas.microsoft.com/office/powerpoint/2010/main" val="3221315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DC45B-2424-06D8-B267-F577BFB62EA7}"/>
              </a:ext>
            </a:extLst>
          </p:cNvPr>
          <p:cNvSpPr>
            <a:spLocks noGrp="1"/>
          </p:cNvSpPr>
          <p:nvPr>
            <p:ph type="title"/>
          </p:nvPr>
        </p:nvSpPr>
        <p:spPr>
          <a:xfrm>
            <a:off x="561975" y="136525"/>
            <a:ext cx="10915650" cy="1325563"/>
          </a:xfrm>
        </p:spPr>
        <p:txBody>
          <a:bodyPr>
            <a:normAutofit/>
          </a:bodyPr>
          <a:lstStyle/>
          <a:p>
            <a:r>
              <a:rPr lang="en-US" sz="2800" b="1">
                <a:latin typeface="Arial" panose="020B0604020202020204" pitchFamily="34" charset="0"/>
                <a:cs typeface="Arial" panose="020B0604020202020204" pitchFamily="34" charset="0"/>
              </a:rPr>
              <a:t>Problem Statement- </a:t>
            </a:r>
            <a:r>
              <a:rPr lang="en-IN" sz="2800" b="1">
                <a:latin typeface="Arial" panose="020B0604020202020204" pitchFamily="34" charset="0"/>
                <a:cs typeface="Arial" panose="020B0604020202020204" pitchFamily="34" charset="0"/>
              </a:rPr>
              <a:t>Social Media Agent </a:t>
            </a:r>
          </a:p>
        </p:txBody>
      </p:sp>
      <p:sp>
        <p:nvSpPr>
          <p:cNvPr id="3" name="Content Placeholder 2">
            <a:extLst>
              <a:ext uri="{FF2B5EF4-FFF2-40B4-BE49-F238E27FC236}">
                <a16:creationId xmlns:a16="http://schemas.microsoft.com/office/drawing/2014/main" id="{30E62F81-F67F-F459-6D59-528893795BE8}"/>
              </a:ext>
            </a:extLst>
          </p:cNvPr>
          <p:cNvSpPr>
            <a:spLocks noGrp="1"/>
          </p:cNvSpPr>
          <p:nvPr>
            <p:ph idx="1"/>
          </p:nvPr>
        </p:nvSpPr>
        <p:spPr>
          <a:xfrm>
            <a:off x="404812" y="1085850"/>
            <a:ext cx="11382375" cy="6105525"/>
          </a:xfrm>
        </p:spPr>
        <p:txBody>
          <a:bodyPr>
            <a:normAutofit fontScale="47500" lnSpcReduction="20000"/>
          </a:bodyPr>
          <a:lstStyle/>
          <a:p>
            <a:pPr>
              <a:lnSpc>
                <a:spcPct val="120000"/>
              </a:lnSpc>
            </a:pPr>
            <a:r>
              <a:rPr lang="en-IN" sz="5100" b="1">
                <a:latin typeface="Arial" panose="020B0604020202020204" pitchFamily="34" charset="0"/>
                <a:cs typeface="Arial" panose="020B0604020202020204" pitchFamily="34" charset="0"/>
              </a:rPr>
              <a:t>The Challenge</a:t>
            </a:r>
          </a:p>
          <a:p>
            <a:pPr marL="0" indent="0">
              <a:lnSpc>
                <a:spcPct val="120000"/>
              </a:lnSpc>
              <a:buNone/>
            </a:pPr>
            <a:r>
              <a:rPr lang="en-IN" sz="2900">
                <a:latin typeface="Arial" panose="020B0604020202020204" pitchFamily="34" charset="0"/>
                <a:cs typeface="Arial" panose="020B0604020202020204" pitchFamily="34" charset="0"/>
              </a:rPr>
              <a:t>Brands, influencers, and organizations struggle to keep up with the fast-paced and fragmented world of social media. Content trends evolve hourly, audience sentiment shifts rapidly, and competitor strategies are difficult to track. Managing multiple platforms often leads to scattered insights, missed engagement opportunities, and ineffective campaigns. The challenge is not only to collect social media data but also to </a:t>
            </a:r>
            <a:r>
              <a:rPr lang="en-IN" sz="2900" err="1">
                <a:latin typeface="Arial" panose="020B0604020202020204" pitchFamily="34" charset="0"/>
                <a:cs typeface="Arial" panose="020B0604020202020204" pitchFamily="34" charset="0"/>
              </a:rPr>
              <a:t>analyze</a:t>
            </a:r>
            <a:r>
              <a:rPr lang="en-IN" sz="2900">
                <a:latin typeface="Arial" panose="020B0604020202020204" pitchFamily="34" charset="0"/>
                <a:cs typeface="Arial" panose="020B0604020202020204" pitchFamily="34" charset="0"/>
              </a:rPr>
              <a:t>, predict, and recommend actions in real time</a:t>
            </a:r>
          </a:p>
          <a:p>
            <a:pPr>
              <a:lnSpc>
                <a:spcPct val="120000"/>
              </a:lnSpc>
            </a:pPr>
            <a:r>
              <a:rPr lang="en-IN" sz="5100" b="1">
                <a:latin typeface="Arial" panose="020B0604020202020204" pitchFamily="34" charset="0"/>
                <a:cs typeface="Arial" panose="020B0604020202020204" pitchFamily="34" charset="0"/>
              </a:rPr>
              <a:t>The Objective</a:t>
            </a:r>
          </a:p>
          <a:p>
            <a:pPr marL="0" indent="0">
              <a:lnSpc>
                <a:spcPct val="120000"/>
              </a:lnSpc>
              <a:buNone/>
            </a:pPr>
            <a:r>
              <a:rPr lang="en-IN" sz="2900">
                <a:latin typeface="Arial" panose="020B0604020202020204" pitchFamily="34" charset="0"/>
                <a:cs typeface="Arial" panose="020B0604020202020204" pitchFamily="34" charset="0"/>
              </a:rPr>
              <a:t>Build an agentic AI application that acts as an intelligent social media companion. </a:t>
            </a:r>
          </a:p>
          <a:p>
            <a:pPr marL="0" indent="0">
              <a:lnSpc>
                <a:spcPct val="120000"/>
              </a:lnSpc>
              <a:buNone/>
            </a:pPr>
            <a:r>
              <a:rPr lang="en-IN" sz="2900">
                <a:latin typeface="Arial" panose="020B0604020202020204" pitchFamily="34" charset="0"/>
                <a:cs typeface="Arial" panose="020B0604020202020204" pitchFamily="34" charset="0"/>
              </a:rPr>
              <a:t>The solution should: </a:t>
            </a:r>
          </a:p>
          <a:p>
            <a:pPr marL="342900" indent="-342900">
              <a:lnSpc>
                <a:spcPct val="120000"/>
              </a:lnSpc>
              <a:buAutoNum type="arabicPeriod"/>
            </a:pPr>
            <a:r>
              <a:rPr lang="en-IN" sz="2900" b="1">
                <a:latin typeface="Arial" panose="020B0604020202020204" pitchFamily="34" charset="0"/>
                <a:cs typeface="Arial" panose="020B0604020202020204" pitchFamily="34" charset="0"/>
              </a:rPr>
              <a:t>Fuse Multichannel Data :- </a:t>
            </a:r>
            <a:r>
              <a:rPr lang="en-IN" sz="2900">
                <a:latin typeface="Arial" panose="020B0604020202020204" pitchFamily="34" charset="0"/>
                <a:cs typeface="Arial" panose="020B0604020202020204" pitchFamily="34" charset="0"/>
              </a:rPr>
              <a:t>Collect and synthesize content, comments, hashtags, and competitor posts from platforms like X, LinkedIn, Instagram, and Facebook into unified insights. </a:t>
            </a:r>
          </a:p>
          <a:p>
            <a:pPr marL="342900" indent="-342900">
              <a:lnSpc>
                <a:spcPct val="120000"/>
              </a:lnSpc>
              <a:buAutoNum type="arabicPeriod"/>
            </a:pPr>
            <a:r>
              <a:rPr lang="en-IN" sz="2900" b="1">
                <a:latin typeface="Arial" panose="020B0604020202020204" pitchFamily="34" charset="0"/>
                <a:cs typeface="Arial" panose="020B0604020202020204" pitchFamily="34" charset="0"/>
              </a:rPr>
              <a:t>Enable Multimodal Interaction :-</a:t>
            </a:r>
            <a:r>
              <a:rPr lang="en-IN" sz="2900">
                <a:latin typeface="Arial" panose="020B0604020202020204" pitchFamily="34" charset="0"/>
                <a:cs typeface="Arial" panose="020B0604020202020204" pitchFamily="34" charset="0"/>
              </a:rPr>
              <a:t> Accept user inputs (text, images, or voice prompts) and generate creative post drafts, captions, or campaign ideas aligned with brand tone. </a:t>
            </a:r>
          </a:p>
          <a:p>
            <a:pPr marL="342900" indent="-342900">
              <a:lnSpc>
                <a:spcPct val="120000"/>
              </a:lnSpc>
              <a:buAutoNum type="arabicPeriod"/>
            </a:pPr>
            <a:r>
              <a:rPr lang="en-IN" sz="2900" b="1">
                <a:latin typeface="Arial" panose="020B0604020202020204" pitchFamily="34" charset="0"/>
                <a:cs typeface="Arial" panose="020B0604020202020204" pitchFamily="34" charset="0"/>
              </a:rPr>
              <a:t>Create a Predictive &amp; Agentic Layer :- </a:t>
            </a:r>
            <a:r>
              <a:rPr lang="en-IN" sz="2900">
                <a:latin typeface="Arial" panose="020B0604020202020204" pitchFamily="34" charset="0"/>
                <a:cs typeface="Arial" panose="020B0604020202020204" pitchFamily="34" charset="0"/>
              </a:rPr>
              <a:t>Forecast trending hashtags, audience sentiment shifts, and competitor engagement patterns while suggesting the best posting schedules. </a:t>
            </a:r>
          </a:p>
          <a:p>
            <a:pPr marL="342900" indent="-342900">
              <a:lnSpc>
                <a:spcPct val="120000"/>
              </a:lnSpc>
              <a:buAutoNum type="arabicPeriod"/>
            </a:pPr>
            <a:r>
              <a:rPr lang="en-IN" sz="2900" b="1">
                <a:latin typeface="Arial" panose="020B0604020202020204" pitchFamily="34" charset="0"/>
                <a:cs typeface="Arial" panose="020B0604020202020204" pitchFamily="34" charset="0"/>
              </a:rPr>
              <a:t>Visualize Social Media Pulse :- </a:t>
            </a:r>
            <a:r>
              <a:rPr lang="en-IN" sz="2900">
                <a:latin typeface="Arial" panose="020B0604020202020204" pitchFamily="34" charset="0"/>
                <a:cs typeface="Arial" panose="020B0604020202020204" pitchFamily="34" charset="0"/>
              </a:rPr>
              <a:t>Provide a dashboard with real-time analytics—engagement trends, influencer mapping, sentiment tracking, and campaign performance forecasts.</a:t>
            </a:r>
          </a:p>
          <a:p>
            <a:pPr>
              <a:lnSpc>
                <a:spcPct val="120000"/>
              </a:lnSpc>
            </a:pPr>
            <a:r>
              <a:rPr lang="en-IN" sz="5900" b="1">
                <a:latin typeface="Arial" panose="020B0604020202020204" pitchFamily="34" charset="0"/>
                <a:cs typeface="Arial" panose="020B0604020202020204" pitchFamily="34" charset="0"/>
              </a:rPr>
              <a:t>Tech Stack (Mandatory)</a:t>
            </a:r>
          </a:p>
          <a:p>
            <a:pPr marL="0" indent="0">
              <a:lnSpc>
                <a:spcPct val="120000"/>
              </a:lnSpc>
              <a:buNone/>
            </a:pPr>
            <a:r>
              <a:rPr lang="en-IN" sz="2900">
                <a:latin typeface="Arial" panose="020B0604020202020204" pitchFamily="34" charset="0"/>
                <a:cs typeface="Arial" panose="020B0604020202020204" pitchFamily="34" charset="0"/>
              </a:rPr>
              <a:t> IBM </a:t>
            </a:r>
            <a:r>
              <a:rPr lang="en-IN" sz="2900" err="1">
                <a:latin typeface="Arial" panose="020B0604020202020204" pitchFamily="34" charset="0"/>
                <a:cs typeface="Arial" panose="020B0604020202020204" pitchFamily="34" charset="0"/>
              </a:rPr>
              <a:t>Langflow</a:t>
            </a:r>
            <a:r>
              <a:rPr lang="en-IN" sz="2900">
                <a:latin typeface="Arial" panose="020B0604020202020204" pitchFamily="34" charset="0"/>
                <a:cs typeface="Arial" panose="020B0604020202020204" pitchFamily="34" charset="0"/>
              </a:rPr>
              <a:t> / IBM Orchestrate + IBM Models</a:t>
            </a:r>
          </a:p>
          <a:p>
            <a:endParaRPr lang="en-I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4932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5D275-5AFA-44BC-B801-1ED9B516AA4A}"/>
              </a:ext>
            </a:extLst>
          </p:cNvPr>
          <p:cNvSpPr>
            <a:spLocks noGrp="1"/>
          </p:cNvSpPr>
          <p:nvPr>
            <p:ph type="title"/>
          </p:nvPr>
        </p:nvSpPr>
        <p:spPr/>
        <p:txBody>
          <a:bodyPr/>
          <a:lstStyle/>
          <a:p>
            <a:r>
              <a:rPr lang="en-IN" sz="2800" b="1">
                <a:latin typeface="Arial" panose="020B0604020202020204" pitchFamily="34" charset="0"/>
                <a:cs typeface="Arial" panose="020B0604020202020204" pitchFamily="34" charset="0"/>
              </a:rPr>
              <a:t>Proposed Solution</a:t>
            </a:r>
            <a:br>
              <a:rPr lang="en-IN" b="1">
                <a:latin typeface="Arial" panose="020B0604020202020204" pitchFamily="34" charset="0"/>
                <a:cs typeface="Arial" panose="020B0604020202020204" pitchFamily="34" charset="0"/>
              </a:rPr>
            </a:br>
            <a:endParaRPr lang="en-IN">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77F86323-B6A3-4BEE-9593-B43E582EDFF6}"/>
              </a:ext>
            </a:extLst>
          </p:cNvPr>
          <p:cNvSpPr>
            <a:spLocks noGrp="1"/>
          </p:cNvSpPr>
          <p:nvPr>
            <p:ph idx="1"/>
          </p:nvPr>
        </p:nvSpPr>
        <p:spPr>
          <a:xfrm>
            <a:off x="523876" y="1162049"/>
            <a:ext cx="10991850" cy="5762626"/>
          </a:xfrm>
        </p:spPr>
        <p:txBody>
          <a:bodyPr>
            <a:normAutofit fontScale="62500" lnSpcReduction="20000"/>
          </a:bodyPr>
          <a:lstStyle/>
          <a:p>
            <a:pPr>
              <a:lnSpc>
                <a:spcPct val="120000"/>
              </a:lnSpc>
            </a:pPr>
            <a:r>
              <a:rPr lang="en-IN" sz="2900" b="1" err="1">
                <a:latin typeface="Arial" panose="020B0604020202020204" pitchFamily="34" charset="0"/>
                <a:cs typeface="Arial" panose="020B0604020202020204" pitchFamily="34" charset="0"/>
              </a:rPr>
              <a:t>SocialSense</a:t>
            </a:r>
            <a:r>
              <a:rPr lang="en-IN" sz="2900" b="1">
                <a:latin typeface="Arial" panose="020B0604020202020204" pitchFamily="34" charset="0"/>
                <a:cs typeface="Arial" panose="020B0604020202020204" pitchFamily="34" charset="0"/>
              </a:rPr>
              <a:t> AI </a:t>
            </a:r>
            <a:r>
              <a:rPr lang="en-IN" sz="2900">
                <a:latin typeface="Arial" panose="020B0604020202020204" pitchFamily="34" charset="0"/>
                <a:cs typeface="Arial" panose="020B0604020202020204" pitchFamily="34" charset="0"/>
              </a:rPr>
              <a:t>is an intelligent, agentic social media assistant that helps brands, influencers, and organizations streamline their social media management using AI. </a:t>
            </a:r>
          </a:p>
          <a:p>
            <a:pPr>
              <a:lnSpc>
                <a:spcPct val="120000"/>
              </a:lnSpc>
            </a:pPr>
            <a:r>
              <a:rPr lang="en-IN" sz="2900">
                <a:latin typeface="Arial" panose="020B0604020202020204" pitchFamily="34" charset="0"/>
                <a:cs typeface="Arial" panose="020B0604020202020204" pitchFamily="34" charset="0"/>
              </a:rPr>
              <a:t>The platform integrates data from multiple social media channels, </a:t>
            </a:r>
            <a:r>
              <a:rPr lang="en-IN" sz="2900" err="1">
                <a:latin typeface="Arial" panose="020B0604020202020204" pitchFamily="34" charset="0"/>
                <a:cs typeface="Arial" panose="020B0604020202020204" pitchFamily="34" charset="0"/>
              </a:rPr>
              <a:t>analyzes</a:t>
            </a:r>
            <a:r>
              <a:rPr lang="en-IN" sz="2900">
                <a:latin typeface="Arial" panose="020B0604020202020204" pitchFamily="34" charset="0"/>
                <a:cs typeface="Arial" panose="020B0604020202020204" pitchFamily="34" charset="0"/>
              </a:rPr>
              <a:t> audience engagement and sentiment, tracks competitor activities, identifies trending topics and hashtags, and generates platform-specific content tailored to the user's brand voice.</a:t>
            </a:r>
          </a:p>
          <a:p>
            <a:pPr>
              <a:lnSpc>
                <a:spcPct val="120000"/>
              </a:lnSpc>
            </a:pPr>
            <a:r>
              <a:rPr lang="en-IN" sz="2900">
                <a:latin typeface="Arial" panose="020B0604020202020204" pitchFamily="34" charset="0"/>
                <a:cs typeface="Arial" panose="020B0604020202020204" pitchFamily="34" charset="0"/>
              </a:rPr>
              <a:t>Built on </a:t>
            </a:r>
            <a:r>
              <a:rPr lang="en-IN" sz="2900" b="1">
                <a:latin typeface="Arial" panose="020B0604020202020204" pitchFamily="34" charset="0"/>
                <a:cs typeface="Arial" panose="020B0604020202020204" pitchFamily="34" charset="0"/>
              </a:rPr>
              <a:t>IBM watsonx.ai</a:t>
            </a:r>
            <a:r>
              <a:rPr lang="en-IN" sz="2900">
                <a:latin typeface="Arial" panose="020B0604020202020204" pitchFamily="34" charset="0"/>
                <a:cs typeface="Arial" panose="020B0604020202020204" pitchFamily="34" charset="0"/>
              </a:rPr>
              <a:t>, </a:t>
            </a:r>
            <a:r>
              <a:rPr lang="en-IN" sz="2900" b="1">
                <a:latin typeface="Arial" panose="020B0604020202020204" pitchFamily="34" charset="0"/>
                <a:cs typeface="Arial" panose="020B0604020202020204" pitchFamily="34" charset="0"/>
              </a:rPr>
              <a:t>IBM </a:t>
            </a:r>
            <a:r>
              <a:rPr lang="en-IN" sz="2900" b="1" err="1">
                <a:latin typeface="Arial" panose="020B0604020202020204" pitchFamily="34" charset="0"/>
                <a:cs typeface="Arial" panose="020B0604020202020204" pitchFamily="34" charset="0"/>
              </a:rPr>
              <a:t>Langflow</a:t>
            </a:r>
            <a:r>
              <a:rPr lang="en-IN" sz="2900">
                <a:latin typeface="Arial" panose="020B0604020202020204" pitchFamily="34" charset="0"/>
                <a:cs typeface="Arial" panose="020B0604020202020204" pitchFamily="34" charset="0"/>
              </a:rPr>
              <a:t>, and </a:t>
            </a:r>
            <a:r>
              <a:rPr lang="en-IN" sz="2900" b="1">
                <a:latin typeface="Arial" panose="020B0604020202020204" pitchFamily="34" charset="0"/>
                <a:cs typeface="Arial" panose="020B0604020202020204" pitchFamily="34" charset="0"/>
              </a:rPr>
              <a:t>IBM Orchestrate</a:t>
            </a:r>
            <a:r>
              <a:rPr lang="en-IN" sz="2900">
                <a:latin typeface="Arial" panose="020B0604020202020204" pitchFamily="34" charset="0"/>
                <a:cs typeface="Arial" panose="020B0604020202020204" pitchFamily="34" charset="0"/>
              </a:rPr>
              <a:t>, </a:t>
            </a:r>
            <a:r>
              <a:rPr lang="en-IN" sz="2900" err="1">
                <a:latin typeface="Arial" panose="020B0604020202020204" pitchFamily="34" charset="0"/>
                <a:cs typeface="Arial" panose="020B0604020202020204" pitchFamily="34" charset="0"/>
              </a:rPr>
              <a:t>SocialSense</a:t>
            </a:r>
            <a:r>
              <a:rPr lang="en-IN" sz="2900">
                <a:latin typeface="Arial" panose="020B0604020202020204" pitchFamily="34" charset="0"/>
                <a:cs typeface="Arial" panose="020B0604020202020204" pitchFamily="34" charset="0"/>
              </a:rPr>
              <a:t> AI employs a multi-agent architecture where specialized AI agents collaborate to collect data, generate content, </a:t>
            </a:r>
            <a:r>
              <a:rPr lang="en-IN" sz="2900" err="1">
                <a:latin typeface="Arial" panose="020B0604020202020204" pitchFamily="34" charset="0"/>
                <a:cs typeface="Arial" panose="020B0604020202020204" pitchFamily="34" charset="0"/>
              </a:rPr>
              <a:t>analyze</a:t>
            </a:r>
            <a:r>
              <a:rPr lang="en-IN" sz="2900">
                <a:latin typeface="Arial" panose="020B0604020202020204" pitchFamily="34" charset="0"/>
                <a:cs typeface="Arial" panose="020B0604020202020204" pitchFamily="34" charset="0"/>
              </a:rPr>
              <a:t> trends, predict engagement, and provide actionable recommendations. </a:t>
            </a:r>
          </a:p>
          <a:p>
            <a:pPr>
              <a:lnSpc>
                <a:spcPct val="120000"/>
              </a:lnSpc>
            </a:pPr>
            <a:r>
              <a:rPr lang="en-IN" sz="2900">
                <a:latin typeface="Arial" panose="020B0604020202020204" pitchFamily="34" charset="0"/>
                <a:cs typeface="Arial" panose="020B0604020202020204" pitchFamily="34" charset="0"/>
              </a:rPr>
              <a:t>A Retrieval-Augmented Generation (RAG) layer enables the system to retrieve relevant brand guidelines, previous campaigns, and marketing documents, ensuring personalized and context-aware responses.</a:t>
            </a:r>
          </a:p>
          <a:p>
            <a:pPr>
              <a:lnSpc>
                <a:spcPct val="120000"/>
              </a:lnSpc>
            </a:pPr>
            <a:r>
              <a:rPr lang="en-IN" sz="2900">
                <a:latin typeface="Arial" panose="020B0604020202020204" pitchFamily="34" charset="0"/>
                <a:cs typeface="Arial" panose="020B0604020202020204" pitchFamily="34" charset="0"/>
              </a:rPr>
              <a:t>The solution features an interactive dashboard that provides real-time analytics, campaign performance metrics, audience sentiment, competitor comparisons, trending hashtags, and optimal posting schedules. </a:t>
            </a:r>
          </a:p>
          <a:p>
            <a:pPr>
              <a:lnSpc>
                <a:spcPct val="120000"/>
              </a:lnSpc>
            </a:pPr>
            <a:r>
              <a:rPr lang="en-IN" sz="2900">
                <a:latin typeface="Arial" panose="020B0604020202020204" pitchFamily="34" charset="0"/>
                <a:cs typeface="Arial" panose="020B0604020202020204" pitchFamily="34" charset="0"/>
              </a:rPr>
              <a:t>By combining generative AI, predictive analytics, and intelligent automation, </a:t>
            </a:r>
            <a:r>
              <a:rPr lang="en-IN" sz="2900" err="1">
                <a:latin typeface="Arial" panose="020B0604020202020204" pitchFamily="34" charset="0"/>
                <a:cs typeface="Arial" panose="020B0604020202020204" pitchFamily="34" charset="0"/>
              </a:rPr>
              <a:t>SocialSense</a:t>
            </a:r>
            <a:r>
              <a:rPr lang="en-IN" sz="2900">
                <a:latin typeface="Arial" panose="020B0604020202020204" pitchFamily="34" charset="0"/>
                <a:cs typeface="Arial" panose="020B0604020202020204" pitchFamily="34" charset="0"/>
              </a:rPr>
              <a:t> AI empowers users to create high-quality content, make data-driven marketing decisions, and maximize audience engagement while significantly reducing manual effort.</a:t>
            </a:r>
          </a:p>
          <a:p>
            <a:endParaRPr lang="en-I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54561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35FDD-C076-1168-3B2A-8DB35FD45284}"/>
              </a:ext>
            </a:extLst>
          </p:cNvPr>
          <p:cNvSpPr>
            <a:spLocks noGrp="1"/>
          </p:cNvSpPr>
          <p:nvPr>
            <p:ph type="title"/>
          </p:nvPr>
        </p:nvSpPr>
        <p:spPr/>
        <p:txBody>
          <a:bodyPr>
            <a:normAutofit/>
          </a:bodyPr>
          <a:lstStyle/>
          <a:p>
            <a:r>
              <a:rPr lang="en-IN" sz="2800" b="1">
                <a:latin typeface="Arial" panose="020B0604020202020204" pitchFamily="34" charset="0"/>
                <a:cs typeface="Arial" panose="020B0604020202020204" pitchFamily="34" charset="0"/>
              </a:rPr>
              <a:t>Technologies Used</a:t>
            </a:r>
            <a:br>
              <a:rPr lang="en-IN" b="1">
                <a:latin typeface="Arial" panose="020B0604020202020204" pitchFamily="34" charset="0"/>
                <a:cs typeface="Arial" panose="020B0604020202020204" pitchFamily="34" charset="0"/>
              </a:rPr>
            </a:br>
            <a:endParaRPr lang="en-IN">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7098D70-FAF3-F7B0-1F02-A5588095EE68}"/>
              </a:ext>
            </a:extLst>
          </p:cNvPr>
          <p:cNvSpPr>
            <a:spLocks noGrp="1"/>
          </p:cNvSpPr>
          <p:nvPr>
            <p:ph idx="1"/>
          </p:nvPr>
        </p:nvSpPr>
        <p:spPr>
          <a:xfrm>
            <a:off x="695324" y="1368425"/>
            <a:ext cx="11001375" cy="4351338"/>
          </a:xfrm>
        </p:spPr>
        <p:txBody>
          <a:bodyPr>
            <a:normAutofit fontScale="70000" lnSpcReduction="20000"/>
          </a:bodyPr>
          <a:lstStyle/>
          <a:p>
            <a:pPr>
              <a:lnSpc>
                <a:spcPct val="150000"/>
              </a:lnSpc>
            </a:pPr>
            <a:r>
              <a:rPr lang="en-IN" sz="2400" b="1">
                <a:latin typeface="Arial" panose="020B0604020202020204" pitchFamily="34" charset="0"/>
                <a:cs typeface="Arial" panose="020B0604020202020204" pitchFamily="34" charset="0"/>
              </a:rPr>
              <a:t>IBM watsonx.ai </a:t>
            </a:r>
            <a:r>
              <a:rPr lang="en-IN" sz="2400">
                <a:latin typeface="Arial" panose="020B0604020202020204" pitchFamily="34" charset="0"/>
                <a:cs typeface="Arial" panose="020B0604020202020204" pitchFamily="34" charset="0"/>
              </a:rPr>
              <a:t>– Powers AI-driven content generation and intelligent insights. </a:t>
            </a:r>
          </a:p>
          <a:p>
            <a:pPr>
              <a:lnSpc>
                <a:spcPct val="150000"/>
              </a:lnSpc>
            </a:pPr>
            <a:r>
              <a:rPr lang="en-IN" sz="2400" b="1">
                <a:latin typeface="Arial" panose="020B0604020202020204" pitchFamily="34" charset="0"/>
                <a:cs typeface="Arial" panose="020B0604020202020204" pitchFamily="34" charset="0"/>
              </a:rPr>
              <a:t>IBM </a:t>
            </a:r>
            <a:r>
              <a:rPr lang="en-IN" sz="2400" b="1" err="1">
                <a:latin typeface="Arial" panose="020B0604020202020204" pitchFamily="34" charset="0"/>
                <a:cs typeface="Arial" panose="020B0604020202020204" pitchFamily="34" charset="0"/>
              </a:rPr>
              <a:t>Langflow</a:t>
            </a:r>
            <a:r>
              <a:rPr lang="en-IN" sz="2400" b="1">
                <a:latin typeface="Arial" panose="020B0604020202020204" pitchFamily="34" charset="0"/>
                <a:cs typeface="Arial" panose="020B0604020202020204" pitchFamily="34" charset="0"/>
              </a:rPr>
              <a:t> </a:t>
            </a:r>
            <a:r>
              <a:rPr lang="en-IN" sz="2400">
                <a:latin typeface="Arial" panose="020B0604020202020204" pitchFamily="34" charset="0"/>
                <a:cs typeface="Arial" panose="020B0604020202020204" pitchFamily="34" charset="0"/>
              </a:rPr>
              <a:t>– Designs and manages multi-agent AI workflows visually. </a:t>
            </a:r>
          </a:p>
          <a:p>
            <a:pPr>
              <a:lnSpc>
                <a:spcPct val="150000"/>
              </a:lnSpc>
            </a:pPr>
            <a:r>
              <a:rPr lang="en-IN" sz="2400" b="1">
                <a:latin typeface="Arial" panose="020B0604020202020204" pitchFamily="34" charset="0"/>
                <a:cs typeface="Arial" panose="020B0604020202020204" pitchFamily="34" charset="0"/>
              </a:rPr>
              <a:t>IBM Orchestrate </a:t>
            </a:r>
            <a:r>
              <a:rPr lang="en-IN" sz="2400">
                <a:latin typeface="Arial" panose="020B0604020202020204" pitchFamily="34" charset="0"/>
                <a:cs typeface="Arial" panose="020B0604020202020204" pitchFamily="34" charset="0"/>
              </a:rPr>
              <a:t>– Coordinates AI agents to automate end-to-end tasks. </a:t>
            </a:r>
          </a:p>
          <a:p>
            <a:pPr>
              <a:lnSpc>
                <a:spcPct val="150000"/>
              </a:lnSpc>
            </a:pPr>
            <a:r>
              <a:rPr lang="en-IN" sz="2400" b="1">
                <a:latin typeface="Arial" panose="020B0604020202020204" pitchFamily="34" charset="0"/>
                <a:cs typeface="Arial" panose="020B0604020202020204" pitchFamily="34" charset="0"/>
              </a:rPr>
              <a:t>Python (Flask/</a:t>
            </a:r>
            <a:r>
              <a:rPr lang="en-IN" sz="2400" b="1" err="1">
                <a:latin typeface="Arial" panose="020B0604020202020204" pitchFamily="34" charset="0"/>
                <a:cs typeface="Arial" panose="020B0604020202020204" pitchFamily="34" charset="0"/>
              </a:rPr>
              <a:t>FastAPI</a:t>
            </a:r>
            <a:r>
              <a:rPr lang="en-IN" sz="2400" b="1">
                <a:latin typeface="Arial" panose="020B0604020202020204" pitchFamily="34" charset="0"/>
                <a:cs typeface="Arial" panose="020B0604020202020204" pitchFamily="34" charset="0"/>
              </a:rPr>
              <a:t>) </a:t>
            </a:r>
            <a:r>
              <a:rPr lang="en-IN" sz="2400">
                <a:latin typeface="Arial" panose="020B0604020202020204" pitchFamily="34" charset="0"/>
                <a:cs typeface="Arial" panose="020B0604020202020204" pitchFamily="34" charset="0"/>
              </a:rPr>
              <a:t>– Handles backend logic and API integration. </a:t>
            </a:r>
          </a:p>
          <a:p>
            <a:pPr>
              <a:lnSpc>
                <a:spcPct val="150000"/>
              </a:lnSpc>
            </a:pPr>
            <a:r>
              <a:rPr lang="en-IN" sz="2400" b="1">
                <a:latin typeface="Arial" panose="020B0604020202020204" pitchFamily="34" charset="0"/>
                <a:cs typeface="Arial" panose="020B0604020202020204" pitchFamily="34" charset="0"/>
              </a:rPr>
              <a:t>HTML, CSS &amp; JavaScript </a:t>
            </a:r>
            <a:r>
              <a:rPr lang="en-IN" sz="2400">
                <a:latin typeface="Arial" panose="020B0604020202020204" pitchFamily="34" charset="0"/>
                <a:cs typeface="Arial" panose="020B0604020202020204" pitchFamily="34" charset="0"/>
              </a:rPr>
              <a:t>– Build a responsive and interactive user interface. </a:t>
            </a:r>
          </a:p>
          <a:p>
            <a:pPr>
              <a:lnSpc>
                <a:spcPct val="150000"/>
              </a:lnSpc>
            </a:pPr>
            <a:r>
              <a:rPr lang="en-IN" sz="2400" b="1" err="1">
                <a:latin typeface="Arial" panose="020B0604020202020204" pitchFamily="34" charset="0"/>
                <a:cs typeface="Arial" panose="020B0604020202020204" pitchFamily="34" charset="0"/>
              </a:rPr>
              <a:t>ChromaDB</a:t>
            </a:r>
            <a:r>
              <a:rPr lang="en-IN" sz="2400" b="1">
                <a:latin typeface="Arial" panose="020B0604020202020204" pitchFamily="34" charset="0"/>
                <a:cs typeface="Arial" panose="020B0604020202020204" pitchFamily="34" charset="0"/>
              </a:rPr>
              <a:t> (RAG) </a:t>
            </a:r>
            <a:r>
              <a:rPr lang="en-IN" sz="2400">
                <a:latin typeface="Arial" panose="020B0604020202020204" pitchFamily="34" charset="0"/>
                <a:cs typeface="Arial" panose="020B0604020202020204" pitchFamily="34" charset="0"/>
              </a:rPr>
              <a:t>– Stores and retrieves contextual knowledge for AI responses. </a:t>
            </a:r>
          </a:p>
          <a:p>
            <a:pPr>
              <a:lnSpc>
                <a:spcPct val="150000"/>
              </a:lnSpc>
            </a:pPr>
            <a:r>
              <a:rPr lang="en-IN" sz="2400" b="1">
                <a:latin typeface="Arial" panose="020B0604020202020204" pitchFamily="34" charset="0"/>
                <a:cs typeface="Arial" panose="020B0604020202020204" pitchFamily="34" charset="0"/>
              </a:rPr>
              <a:t>Chart.js </a:t>
            </a:r>
            <a:r>
              <a:rPr lang="en-IN" sz="2400">
                <a:latin typeface="Arial" panose="020B0604020202020204" pitchFamily="34" charset="0"/>
                <a:cs typeface="Arial" panose="020B0604020202020204" pitchFamily="34" charset="0"/>
              </a:rPr>
              <a:t>– Visualizes analytics, trends, and engagement metrics. </a:t>
            </a:r>
          </a:p>
          <a:p>
            <a:pPr>
              <a:lnSpc>
                <a:spcPct val="150000"/>
              </a:lnSpc>
            </a:pPr>
            <a:r>
              <a:rPr lang="en-IN" sz="2400" b="1">
                <a:latin typeface="Arial" panose="020B0604020202020204" pitchFamily="34" charset="0"/>
                <a:cs typeface="Arial" panose="020B0604020202020204" pitchFamily="34" charset="0"/>
              </a:rPr>
              <a:t>IBM Cloud </a:t>
            </a:r>
            <a:r>
              <a:rPr lang="en-IN" sz="2400">
                <a:latin typeface="Arial" panose="020B0604020202020204" pitchFamily="34" charset="0"/>
                <a:cs typeface="Arial" panose="020B0604020202020204" pitchFamily="34" charset="0"/>
              </a:rPr>
              <a:t>– Hosts, deploys, and scales the application. </a:t>
            </a:r>
          </a:p>
          <a:p>
            <a:pPr>
              <a:lnSpc>
                <a:spcPct val="150000"/>
              </a:lnSpc>
            </a:pPr>
            <a:r>
              <a:rPr lang="en-IN" sz="2400" b="1">
                <a:latin typeface="Arial" panose="020B0604020202020204" pitchFamily="34" charset="0"/>
                <a:cs typeface="Arial" panose="020B0604020202020204" pitchFamily="34" charset="0"/>
              </a:rPr>
              <a:t>Social Media APIs </a:t>
            </a:r>
            <a:r>
              <a:rPr lang="en-IN" sz="2400">
                <a:latin typeface="Arial" panose="020B0604020202020204" pitchFamily="34" charset="0"/>
                <a:cs typeface="Arial" panose="020B0604020202020204" pitchFamily="34" charset="0"/>
              </a:rPr>
              <a:t>– Fetch real-time posts, trends, and engagement data from social platforms. </a:t>
            </a:r>
          </a:p>
          <a:p>
            <a:endParaRPr lang="en-I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20624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8539459-DBDB-ADAB-4436-06FB7C653525}"/>
              </a:ext>
            </a:extLst>
          </p:cNvPr>
          <p:cNvPicPr>
            <a:picLocks noGrp="1" noChangeAspect="1"/>
          </p:cNvPicPr>
          <p:nvPr>
            <p:ph idx="1"/>
          </p:nvPr>
        </p:nvPicPr>
        <p:blipFill>
          <a:blip r:embed="rId2"/>
          <a:stretch>
            <a:fillRect/>
          </a:stretch>
        </p:blipFill>
        <p:spPr>
          <a:xfrm>
            <a:off x="1129115" y="733933"/>
            <a:ext cx="4724569" cy="2362284"/>
          </a:xfrm>
          <a:prstGeom prst="rect">
            <a:avLst/>
          </a:prstGeom>
        </p:spPr>
      </p:pic>
      <p:cxnSp>
        <p:nvCxnSpPr>
          <p:cNvPr id="12" name="Straight Connector 11">
            <a:extLst>
              <a:ext uri="{FF2B5EF4-FFF2-40B4-BE49-F238E27FC236}">
                <a16:creationId xmlns:a16="http://schemas.microsoft.com/office/drawing/2014/main" id="{91B6081D-D3E8-4209-B85B-EB1C655A62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1214" y="1111170"/>
            <a:ext cx="11040" cy="4645103"/>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BF863B2E-C2B5-E154-5D8A-0441EA296DB3}"/>
              </a:ext>
            </a:extLst>
          </p:cNvPr>
          <p:cNvPicPr>
            <a:picLocks noChangeAspect="1"/>
          </p:cNvPicPr>
          <p:nvPr/>
        </p:nvPicPr>
        <p:blipFill>
          <a:blip r:embed="rId3"/>
          <a:stretch>
            <a:fillRect/>
          </a:stretch>
        </p:blipFill>
        <p:spPr>
          <a:xfrm>
            <a:off x="6338316" y="737756"/>
            <a:ext cx="4732940" cy="2354638"/>
          </a:xfrm>
          <a:prstGeom prst="rect">
            <a:avLst/>
          </a:prstGeom>
        </p:spPr>
      </p:pic>
      <p:cxnSp>
        <p:nvCxnSpPr>
          <p:cNvPr id="14" name="Straight Connector 13">
            <a:extLst>
              <a:ext uri="{FF2B5EF4-FFF2-40B4-BE49-F238E27FC236}">
                <a16:creationId xmlns:a16="http://schemas.microsoft.com/office/drawing/2014/main" id="{28CA55E4-1295-45C8-BA05-5A9E705B749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03027" y="3428998"/>
            <a:ext cx="4188904" cy="1"/>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8C5794E-A9A1-4A23-AF68-C79A7822334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610334" y="3428998"/>
            <a:ext cx="4188904" cy="1"/>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98538572-0D22-683E-74D1-CAF326826EB2}"/>
              </a:ext>
            </a:extLst>
          </p:cNvPr>
          <p:cNvPicPr>
            <a:picLocks noChangeAspect="1"/>
          </p:cNvPicPr>
          <p:nvPr/>
        </p:nvPicPr>
        <p:blipFill>
          <a:blip r:embed="rId4"/>
          <a:stretch>
            <a:fillRect/>
          </a:stretch>
        </p:blipFill>
        <p:spPr>
          <a:xfrm>
            <a:off x="1129115" y="3763105"/>
            <a:ext cx="4724569" cy="2362284"/>
          </a:xfrm>
          <a:prstGeom prst="rect">
            <a:avLst/>
          </a:prstGeom>
        </p:spPr>
      </p:pic>
      <p:pic>
        <p:nvPicPr>
          <p:cNvPr id="7" name="Picture 6">
            <a:extLst>
              <a:ext uri="{FF2B5EF4-FFF2-40B4-BE49-F238E27FC236}">
                <a16:creationId xmlns:a16="http://schemas.microsoft.com/office/drawing/2014/main" id="{971FFDB7-6672-DA7E-D6C8-6604EDB87AF9}"/>
              </a:ext>
            </a:extLst>
          </p:cNvPr>
          <p:cNvPicPr>
            <a:picLocks noChangeAspect="1"/>
          </p:cNvPicPr>
          <p:nvPr/>
        </p:nvPicPr>
        <p:blipFill>
          <a:blip r:embed="rId5"/>
          <a:stretch>
            <a:fillRect/>
          </a:stretch>
        </p:blipFill>
        <p:spPr>
          <a:xfrm>
            <a:off x="6338316" y="3764815"/>
            <a:ext cx="4732940" cy="2366470"/>
          </a:xfrm>
          <a:prstGeom prst="rect">
            <a:avLst/>
          </a:prstGeom>
        </p:spPr>
      </p:pic>
    </p:spTree>
    <p:extLst>
      <p:ext uri="{BB962C8B-B14F-4D97-AF65-F5344CB8AC3E}">
        <p14:creationId xmlns:p14="http://schemas.microsoft.com/office/powerpoint/2010/main" val="27589304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514BE-07D0-9907-69D0-E259B2F83EFB}"/>
              </a:ext>
            </a:extLst>
          </p:cNvPr>
          <p:cNvSpPr>
            <a:spLocks noGrp="1"/>
          </p:cNvSpPr>
          <p:nvPr>
            <p:ph type="title"/>
          </p:nvPr>
        </p:nvSpPr>
        <p:spPr/>
        <p:txBody>
          <a:bodyPr>
            <a:normAutofit/>
          </a:bodyPr>
          <a:lstStyle/>
          <a:p>
            <a:r>
              <a:rPr lang="en-US" sz="2800" b="1" err="1">
                <a:latin typeface="Arial" panose="020B0604020202020204" pitchFamily="34" charset="0"/>
                <a:cs typeface="Arial" panose="020B0604020202020204" pitchFamily="34" charset="0"/>
                <a:sym typeface="Times New Roman"/>
              </a:rPr>
              <a:t>Langflow</a:t>
            </a:r>
            <a:r>
              <a:rPr lang="en-US" sz="2800" b="1" i="0" u="none" strike="noStrike" cap="none">
                <a:solidFill>
                  <a:srgbClr val="051D3A"/>
                </a:solidFill>
                <a:latin typeface="Arial" panose="020B0604020202020204" pitchFamily="34" charset="0"/>
                <a:ea typeface="Times New Roman"/>
                <a:cs typeface="Arial" panose="020B0604020202020204" pitchFamily="34" charset="0"/>
                <a:sym typeface="Times New Roman"/>
              </a:rPr>
              <a:t> </a:t>
            </a:r>
            <a:r>
              <a:rPr lang="en-US" sz="2800" b="1">
                <a:latin typeface="Arial" panose="020B0604020202020204" pitchFamily="34" charset="0"/>
                <a:cs typeface="Arial" panose="020B0604020202020204" pitchFamily="34" charset="0"/>
                <a:sym typeface="Times New Roman"/>
              </a:rPr>
              <a:t>component Used -</a:t>
            </a:r>
            <a:br>
              <a:rPr lang="en-US" sz="2800" b="1">
                <a:latin typeface="Arial" panose="020B0604020202020204" pitchFamily="34" charset="0"/>
                <a:cs typeface="Arial" panose="020B0604020202020204" pitchFamily="34" charset="0"/>
                <a:sym typeface="Times New Roman"/>
              </a:rPr>
            </a:br>
            <a:endParaRPr lang="en-IN" sz="280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83BD14F0-D0BE-683E-29C4-6B01A322E29A}"/>
              </a:ext>
            </a:extLst>
          </p:cNvPr>
          <p:cNvSpPr>
            <a:spLocks noGrp="1"/>
          </p:cNvSpPr>
          <p:nvPr>
            <p:ph idx="1"/>
          </p:nvPr>
        </p:nvSpPr>
        <p:spPr>
          <a:xfrm>
            <a:off x="695325" y="1425575"/>
            <a:ext cx="10515600" cy="4351338"/>
          </a:xfrm>
        </p:spPr>
        <p:txBody>
          <a:bodyPr>
            <a:noAutofit/>
          </a:bodyPr>
          <a:lstStyle/>
          <a:p>
            <a:pPr>
              <a:lnSpc>
                <a:spcPct val="150000"/>
              </a:lnSpc>
            </a:pPr>
            <a:r>
              <a:rPr lang="en-IN" sz="2000" b="1">
                <a:latin typeface="Arial" panose="020B0604020202020204" pitchFamily="34" charset="0"/>
                <a:cs typeface="Arial" panose="020B0604020202020204" pitchFamily="34" charset="0"/>
              </a:rPr>
              <a:t>Chat Input – </a:t>
            </a:r>
            <a:r>
              <a:rPr lang="en-IN" sz="2000">
                <a:latin typeface="Arial" panose="020B0604020202020204" pitchFamily="34" charset="0"/>
                <a:cs typeface="Arial" panose="020B0604020202020204" pitchFamily="34" charset="0"/>
              </a:rPr>
              <a:t>Receives user queries. </a:t>
            </a:r>
          </a:p>
          <a:p>
            <a:pPr>
              <a:lnSpc>
                <a:spcPct val="150000"/>
              </a:lnSpc>
            </a:pPr>
            <a:r>
              <a:rPr lang="en-IN" sz="2000" b="1">
                <a:latin typeface="Arial" panose="020B0604020202020204" pitchFamily="34" charset="0"/>
                <a:cs typeface="Arial" panose="020B0604020202020204" pitchFamily="34" charset="0"/>
              </a:rPr>
              <a:t>Prompt Template – </a:t>
            </a:r>
            <a:r>
              <a:rPr lang="en-IN" sz="2000">
                <a:latin typeface="Arial" panose="020B0604020202020204" pitchFamily="34" charset="0"/>
                <a:cs typeface="Arial" panose="020B0604020202020204" pitchFamily="34" charset="0"/>
              </a:rPr>
              <a:t>Structures AI prompts. </a:t>
            </a:r>
          </a:p>
          <a:p>
            <a:pPr>
              <a:lnSpc>
                <a:spcPct val="150000"/>
              </a:lnSpc>
            </a:pPr>
            <a:r>
              <a:rPr lang="en-IN" sz="2000" b="1">
                <a:latin typeface="Arial" panose="020B0604020202020204" pitchFamily="34" charset="0"/>
                <a:cs typeface="Arial" panose="020B0604020202020204" pitchFamily="34" charset="0"/>
              </a:rPr>
              <a:t>IBM Granite Model – </a:t>
            </a:r>
            <a:r>
              <a:rPr lang="en-IN" sz="2000">
                <a:latin typeface="Arial" panose="020B0604020202020204" pitchFamily="34" charset="0"/>
                <a:cs typeface="Arial" panose="020B0604020202020204" pitchFamily="34" charset="0"/>
              </a:rPr>
              <a:t>Generates AI responses. </a:t>
            </a:r>
          </a:p>
          <a:p>
            <a:pPr>
              <a:lnSpc>
                <a:spcPct val="150000"/>
              </a:lnSpc>
            </a:pPr>
            <a:r>
              <a:rPr lang="en-IN" sz="2000" b="1">
                <a:latin typeface="Arial" panose="020B0604020202020204" pitchFamily="34" charset="0"/>
                <a:cs typeface="Arial" panose="020B0604020202020204" pitchFamily="34" charset="0"/>
              </a:rPr>
              <a:t>Agent – </a:t>
            </a:r>
            <a:r>
              <a:rPr lang="en-IN" sz="2000">
                <a:latin typeface="Arial" panose="020B0604020202020204" pitchFamily="34" charset="0"/>
                <a:cs typeface="Arial" panose="020B0604020202020204" pitchFamily="34" charset="0"/>
              </a:rPr>
              <a:t>Performs specialized AI tasks. </a:t>
            </a:r>
          </a:p>
          <a:p>
            <a:pPr>
              <a:lnSpc>
                <a:spcPct val="150000"/>
              </a:lnSpc>
            </a:pPr>
            <a:r>
              <a:rPr lang="en-IN" sz="2000" b="1">
                <a:latin typeface="Arial" panose="020B0604020202020204" pitchFamily="34" charset="0"/>
                <a:cs typeface="Arial" panose="020B0604020202020204" pitchFamily="34" charset="0"/>
              </a:rPr>
              <a:t>HTTP Request – </a:t>
            </a:r>
            <a:r>
              <a:rPr lang="en-IN" sz="2000">
                <a:latin typeface="Arial" panose="020B0604020202020204" pitchFamily="34" charset="0"/>
                <a:cs typeface="Arial" panose="020B0604020202020204" pitchFamily="34" charset="0"/>
              </a:rPr>
              <a:t>Connects to social media APIs. </a:t>
            </a:r>
          </a:p>
          <a:p>
            <a:pPr>
              <a:lnSpc>
                <a:spcPct val="150000"/>
              </a:lnSpc>
            </a:pPr>
            <a:r>
              <a:rPr lang="en-IN" sz="2000" b="1">
                <a:latin typeface="Arial" panose="020B0604020202020204" pitchFamily="34" charset="0"/>
                <a:cs typeface="Arial" panose="020B0604020202020204" pitchFamily="34" charset="0"/>
              </a:rPr>
              <a:t>Retriever (RAG) – </a:t>
            </a:r>
            <a:r>
              <a:rPr lang="en-IN" sz="2000">
                <a:latin typeface="Arial" panose="020B0604020202020204" pitchFamily="34" charset="0"/>
                <a:cs typeface="Arial" panose="020B0604020202020204" pitchFamily="34" charset="0"/>
              </a:rPr>
              <a:t>Fetches relevant knowledge. </a:t>
            </a:r>
          </a:p>
          <a:p>
            <a:pPr>
              <a:lnSpc>
                <a:spcPct val="150000"/>
              </a:lnSpc>
            </a:pPr>
            <a:r>
              <a:rPr lang="en-IN" sz="2000" b="1">
                <a:latin typeface="Arial" panose="020B0604020202020204" pitchFamily="34" charset="0"/>
                <a:cs typeface="Arial" panose="020B0604020202020204" pitchFamily="34" charset="0"/>
              </a:rPr>
              <a:t>Memory – </a:t>
            </a:r>
            <a:r>
              <a:rPr lang="en-IN" sz="2000">
                <a:latin typeface="Arial" panose="020B0604020202020204" pitchFamily="34" charset="0"/>
                <a:cs typeface="Arial" panose="020B0604020202020204" pitchFamily="34" charset="0"/>
              </a:rPr>
              <a:t>Maintains conversation context. </a:t>
            </a:r>
          </a:p>
          <a:p>
            <a:pPr>
              <a:lnSpc>
                <a:spcPct val="150000"/>
              </a:lnSpc>
            </a:pPr>
            <a:r>
              <a:rPr lang="en-IN" sz="2000" b="1">
                <a:latin typeface="Arial" panose="020B0604020202020204" pitchFamily="34" charset="0"/>
                <a:cs typeface="Arial" panose="020B0604020202020204" pitchFamily="34" charset="0"/>
              </a:rPr>
              <a:t>Chat Output – </a:t>
            </a:r>
            <a:r>
              <a:rPr lang="en-IN" sz="2000">
                <a:latin typeface="Arial" panose="020B0604020202020204" pitchFamily="34" charset="0"/>
                <a:cs typeface="Arial" panose="020B0604020202020204" pitchFamily="34" charset="0"/>
              </a:rPr>
              <a:t>Displays the final response.</a:t>
            </a:r>
          </a:p>
        </p:txBody>
      </p:sp>
    </p:spTree>
    <p:extLst>
      <p:ext uri="{BB962C8B-B14F-4D97-AF65-F5344CB8AC3E}">
        <p14:creationId xmlns:p14="http://schemas.microsoft.com/office/powerpoint/2010/main" val="2759071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83144-A2C8-B11E-CCE3-E1DC72B9A8B0}"/>
              </a:ext>
            </a:extLst>
          </p:cNvPr>
          <p:cNvSpPr>
            <a:spLocks noGrp="1"/>
          </p:cNvSpPr>
          <p:nvPr>
            <p:ph type="title"/>
          </p:nvPr>
        </p:nvSpPr>
        <p:spPr/>
        <p:txBody>
          <a:bodyPr>
            <a:normAutofit/>
          </a:bodyPr>
          <a:lstStyle/>
          <a:p>
            <a:r>
              <a:rPr lang="en-IN" sz="2800" b="1">
                <a:latin typeface="Arial" panose="020B0604020202020204" pitchFamily="34" charset="0"/>
                <a:cs typeface="Arial" panose="020B0604020202020204" pitchFamily="34" charset="0"/>
              </a:rPr>
              <a:t>Role of Agentic AI in the Solution</a:t>
            </a:r>
          </a:p>
        </p:txBody>
      </p:sp>
      <p:sp>
        <p:nvSpPr>
          <p:cNvPr id="3" name="Content Placeholder 2">
            <a:extLst>
              <a:ext uri="{FF2B5EF4-FFF2-40B4-BE49-F238E27FC236}">
                <a16:creationId xmlns:a16="http://schemas.microsoft.com/office/drawing/2014/main" id="{E72DCB59-825D-41D0-C02F-9764603318D9}"/>
              </a:ext>
            </a:extLst>
          </p:cNvPr>
          <p:cNvSpPr>
            <a:spLocks noGrp="1"/>
          </p:cNvSpPr>
          <p:nvPr>
            <p:ph idx="1"/>
          </p:nvPr>
        </p:nvSpPr>
        <p:spPr>
          <a:xfrm>
            <a:off x="190500" y="1482725"/>
            <a:ext cx="11677650" cy="4351338"/>
          </a:xfrm>
        </p:spPr>
        <p:txBody>
          <a:bodyPr>
            <a:normAutofit/>
          </a:bodyPr>
          <a:lstStyle/>
          <a:p>
            <a:pPr lvl="1">
              <a:lnSpc>
                <a:spcPct val="150000"/>
              </a:lnSpc>
            </a:pPr>
            <a:r>
              <a:rPr lang="en-IN" sz="2000" b="1">
                <a:latin typeface="Arial" panose="020B0604020202020204" pitchFamily="34" charset="0"/>
                <a:cs typeface="Arial" panose="020B0604020202020204" pitchFamily="34" charset="0"/>
              </a:rPr>
              <a:t>Agentic AI </a:t>
            </a:r>
            <a:r>
              <a:rPr lang="en-IN" sz="2000">
                <a:latin typeface="Arial" panose="020B0604020202020204" pitchFamily="34" charset="0"/>
                <a:cs typeface="Arial" panose="020B0604020202020204" pitchFamily="34" charset="0"/>
              </a:rPr>
              <a:t>enables </a:t>
            </a:r>
            <a:r>
              <a:rPr lang="en-IN" sz="2000" err="1">
                <a:latin typeface="Arial" panose="020B0604020202020204" pitchFamily="34" charset="0"/>
                <a:cs typeface="Arial" panose="020B0604020202020204" pitchFamily="34" charset="0"/>
              </a:rPr>
              <a:t>SocialSense</a:t>
            </a:r>
            <a:r>
              <a:rPr lang="en-IN" sz="2000">
                <a:latin typeface="Arial" panose="020B0604020202020204" pitchFamily="34" charset="0"/>
                <a:cs typeface="Arial" panose="020B0604020202020204" pitchFamily="34" charset="0"/>
              </a:rPr>
              <a:t> AI to autonomously perform specialized tasks through multiple intelligent agents that collaborate to achieve a common goal. Each agent is responsible for a specific function, such as collecting social media data, </a:t>
            </a:r>
            <a:r>
              <a:rPr lang="en-IN" sz="2000" err="1">
                <a:latin typeface="Arial" panose="020B0604020202020204" pitchFamily="34" charset="0"/>
                <a:cs typeface="Arial" panose="020B0604020202020204" pitchFamily="34" charset="0"/>
              </a:rPr>
              <a:t>analyzing</a:t>
            </a:r>
            <a:r>
              <a:rPr lang="en-IN" sz="2000">
                <a:latin typeface="Arial" panose="020B0604020202020204" pitchFamily="34" charset="0"/>
                <a:cs typeface="Arial" panose="020B0604020202020204" pitchFamily="34" charset="0"/>
              </a:rPr>
              <a:t> trends, generating content, monitoring competitors, and predicting engagement. The agents communicate through an orchestrator, allowing the system to make context-aware decisions, automate workflows, and provide actionable recommendations with minimal user intervention.</a:t>
            </a:r>
          </a:p>
        </p:txBody>
      </p:sp>
    </p:spTree>
    <p:extLst>
      <p:ext uri="{BB962C8B-B14F-4D97-AF65-F5344CB8AC3E}">
        <p14:creationId xmlns:p14="http://schemas.microsoft.com/office/powerpoint/2010/main" val="16364690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3CBED-D5A6-6833-DEFD-F0305C82BBCF}"/>
              </a:ext>
            </a:extLst>
          </p:cNvPr>
          <p:cNvSpPr>
            <a:spLocks noGrp="1"/>
          </p:cNvSpPr>
          <p:nvPr>
            <p:ph type="title"/>
          </p:nvPr>
        </p:nvSpPr>
        <p:spPr/>
        <p:txBody>
          <a:bodyPr>
            <a:normAutofit/>
          </a:bodyPr>
          <a:lstStyle/>
          <a:p>
            <a:r>
              <a:rPr lang="en-IN" sz="2800" b="1">
                <a:latin typeface="Arial" panose="020B0604020202020204" pitchFamily="34" charset="0"/>
                <a:cs typeface="Arial" panose="020B0604020202020204" pitchFamily="34" charset="0"/>
              </a:rPr>
              <a:t>Novelty &amp; Uniqueness</a:t>
            </a:r>
          </a:p>
        </p:txBody>
      </p:sp>
      <p:sp>
        <p:nvSpPr>
          <p:cNvPr id="3" name="Content Placeholder 2">
            <a:extLst>
              <a:ext uri="{FF2B5EF4-FFF2-40B4-BE49-F238E27FC236}">
                <a16:creationId xmlns:a16="http://schemas.microsoft.com/office/drawing/2014/main" id="{65A7C2C1-103C-05FF-AFCB-775BD5CF86E0}"/>
              </a:ext>
            </a:extLst>
          </p:cNvPr>
          <p:cNvSpPr>
            <a:spLocks noGrp="1"/>
          </p:cNvSpPr>
          <p:nvPr>
            <p:ph idx="1"/>
          </p:nvPr>
        </p:nvSpPr>
        <p:spPr>
          <a:xfrm>
            <a:off x="581025" y="1520824"/>
            <a:ext cx="11315700" cy="4784725"/>
          </a:xfrm>
        </p:spPr>
        <p:txBody>
          <a:bodyPr>
            <a:noAutofit/>
          </a:bodyPr>
          <a:lstStyle/>
          <a:p>
            <a:pPr>
              <a:lnSpc>
                <a:spcPct val="100000"/>
              </a:lnSpc>
            </a:pPr>
            <a:r>
              <a:rPr lang="en-IN" sz="2000" b="1">
                <a:latin typeface="Arial" panose="020B0604020202020204" pitchFamily="34" charset="0"/>
                <a:cs typeface="Arial" panose="020B0604020202020204" pitchFamily="34" charset="0"/>
              </a:rPr>
              <a:t>Multi-Agent AI Architecture: </a:t>
            </a:r>
            <a:r>
              <a:rPr lang="en-IN" sz="2000">
                <a:latin typeface="Arial" panose="020B0604020202020204" pitchFamily="34" charset="0"/>
                <a:cs typeface="Arial" panose="020B0604020202020204" pitchFamily="34" charset="0"/>
              </a:rPr>
              <a:t>Uses specialized AI agents for content generation, trend analysis, sentiment analysis, competitor monitoring, and campaign recommendations. </a:t>
            </a:r>
          </a:p>
          <a:p>
            <a:pPr>
              <a:lnSpc>
                <a:spcPct val="100000"/>
              </a:lnSpc>
            </a:pPr>
            <a:r>
              <a:rPr lang="en-IN" sz="2000" b="1">
                <a:latin typeface="Arial" panose="020B0604020202020204" pitchFamily="34" charset="0"/>
                <a:cs typeface="Arial" panose="020B0604020202020204" pitchFamily="34" charset="0"/>
              </a:rPr>
              <a:t>Unified Social Intelligence: </a:t>
            </a:r>
            <a:r>
              <a:rPr lang="en-IN" sz="2000">
                <a:latin typeface="Arial" panose="020B0604020202020204" pitchFamily="34" charset="0"/>
                <a:cs typeface="Arial" panose="020B0604020202020204" pitchFamily="34" charset="0"/>
              </a:rPr>
              <a:t>Combines data from multiple social media platforms into a single dashboard for comprehensive insights. </a:t>
            </a:r>
          </a:p>
          <a:p>
            <a:pPr>
              <a:lnSpc>
                <a:spcPct val="100000"/>
              </a:lnSpc>
            </a:pPr>
            <a:r>
              <a:rPr lang="en-IN" sz="2000" b="1">
                <a:latin typeface="Arial" panose="020B0604020202020204" pitchFamily="34" charset="0"/>
                <a:cs typeface="Arial" panose="020B0604020202020204" pitchFamily="34" charset="0"/>
              </a:rPr>
              <a:t>Predictive Analytics: </a:t>
            </a:r>
            <a:r>
              <a:rPr lang="en-IN" sz="2000">
                <a:latin typeface="Arial" panose="020B0604020202020204" pitchFamily="34" charset="0"/>
                <a:cs typeface="Arial" panose="020B0604020202020204" pitchFamily="34" charset="0"/>
              </a:rPr>
              <a:t>Forecasts trending hashtags, audience engagement, and optimal posting schedules using AI. </a:t>
            </a:r>
          </a:p>
          <a:p>
            <a:pPr>
              <a:lnSpc>
                <a:spcPct val="100000"/>
              </a:lnSpc>
            </a:pPr>
            <a:r>
              <a:rPr lang="en-IN" sz="2000" b="1">
                <a:latin typeface="Arial" panose="020B0604020202020204" pitchFamily="34" charset="0"/>
                <a:cs typeface="Arial" panose="020B0604020202020204" pitchFamily="34" charset="0"/>
              </a:rPr>
              <a:t>Brand-Aware Content Generation: </a:t>
            </a:r>
            <a:r>
              <a:rPr lang="en-IN" sz="2000">
                <a:latin typeface="Arial" panose="020B0604020202020204" pitchFamily="34" charset="0"/>
                <a:cs typeface="Arial" panose="020B0604020202020204" pitchFamily="34" charset="0"/>
              </a:rPr>
              <a:t>Generates personalized, platform-specific content that aligns with the user's brand voice. </a:t>
            </a:r>
          </a:p>
          <a:p>
            <a:pPr>
              <a:lnSpc>
                <a:spcPct val="100000"/>
              </a:lnSpc>
            </a:pPr>
            <a:r>
              <a:rPr lang="en-IN" sz="2000" b="1">
                <a:latin typeface="Arial" panose="020B0604020202020204" pitchFamily="34" charset="0"/>
                <a:cs typeface="Arial" panose="020B0604020202020204" pitchFamily="34" charset="0"/>
              </a:rPr>
              <a:t>IBM Agentic AI Powered: </a:t>
            </a:r>
            <a:r>
              <a:rPr lang="en-IN" sz="2000">
                <a:latin typeface="Arial" panose="020B0604020202020204" pitchFamily="34" charset="0"/>
                <a:cs typeface="Arial" panose="020B0604020202020204" pitchFamily="34" charset="0"/>
              </a:rPr>
              <a:t>Leverages IBM watsonx.ai, IBM Orchestrate, and </a:t>
            </a:r>
            <a:r>
              <a:rPr lang="en-IN" sz="2000" err="1">
                <a:latin typeface="Arial" panose="020B0604020202020204" pitchFamily="34" charset="0"/>
                <a:cs typeface="Arial" panose="020B0604020202020204" pitchFamily="34" charset="0"/>
              </a:rPr>
              <a:t>Langflow</a:t>
            </a:r>
            <a:r>
              <a:rPr lang="en-IN" sz="2000">
                <a:latin typeface="Arial" panose="020B0604020202020204" pitchFamily="34" charset="0"/>
                <a:cs typeface="Arial" panose="020B0604020202020204" pitchFamily="34" charset="0"/>
              </a:rPr>
              <a:t> to deliver an intelligent, automated social media assistant. </a:t>
            </a:r>
          </a:p>
          <a:p>
            <a:pPr>
              <a:lnSpc>
                <a:spcPct val="100000"/>
              </a:lnSpc>
            </a:pPr>
            <a:endParaRPr lang="en-IN"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409371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DC0BD-722E-4C3D-7D86-27EDC77BE38A}"/>
              </a:ext>
            </a:extLst>
          </p:cNvPr>
          <p:cNvSpPr>
            <a:spLocks noGrp="1"/>
          </p:cNvSpPr>
          <p:nvPr>
            <p:ph type="title"/>
          </p:nvPr>
        </p:nvSpPr>
        <p:spPr/>
        <p:txBody>
          <a:bodyPr>
            <a:normAutofit/>
          </a:bodyPr>
          <a:lstStyle/>
          <a:p>
            <a:r>
              <a:rPr lang="en-IN" sz="2800" b="1">
                <a:latin typeface="Arial" panose="020B0604020202020204" pitchFamily="34" charset="0"/>
                <a:cs typeface="Arial" panose="020B0604020202020204" pitchFamily="34" charset="0"/>
              </a:rPr>
              <a:t>Future Scope</a:t>
            </a:r>
          </a:p>
        </p:txBody>
      </p:sp>
      <p:sp>
        <p:nvSpPr>
          <p:cNvPr id="3" name="Content Placeholder 2">
            <a:extLst>
              <a:ext uri="{FF2B5EF4-FFF2-40B4-BE49-F238E27FC236}">
                <a16:creationId xmlns:a16="http://schemas.microsoft.com/office/drawing/2014/main" id="{FBBC8499-95D9-802E-029B-E29E1CAADE03}"/>
              </a:ext>
            </a:extLst>
          </p:cNvPr>
          <p:cNvSpPr>
            <a:spLocks noGrp="1"/>
          </p:cNvSpPr>
          <p:nvPr>
            <p:ph idx="1"/>
          </p:nvPr>
        </p:nvSpPr>
        <p:spPr>
          <a:xfrm>
            <a:off x="838200" y="1435100"/>
            <a:ext cx="10515600" cy="4351338"/>
          </a:xfrm>
        </p:spPr>
        <p:txBody>
          <a:bodyPr>
            <a:noAutofit/>
          </a:bodyPr>
          <a:lstStyle/>
          <a:p>
            <a:pPr>
              <a:lnSpc>
                <a:spcPct val="150000"/>
              </a:lnSpc>
            </a:pPr>
            <a:r>
              <a:rPr lang="en-IN" sz="2000" b="1">
                <a:latin typeface="Arial" panose="020B0604020202020204" pitchFamily="34" charset="0"/>
                <a:cs typeface="Arial" panose="020B0604020202020204" pitchFamily="34" charset="0"/>
              </a:rPr>
              <a:t>Support more social media platforms</a:t>
            </a:r>
            <a:r>
              <a:rPr lang="en-IN" sz="2000">
                <a:latin typeface="Arial" panose="020B0604020202020204" pitchFamily="34" charset="0"/>
                <a:cs typeface="Arial" panose="020B0604020202020204" pitchFamily="34" charset="0"/>
              </a:rPr>
              <a:t> such as YouTube, TikTok, and Threads. </a:t>
            </a:r>
          </a:p>
          <a:p>
            <a:pPr>
              <a:lnSpc>
                <a:spcPct val="150000"/>
              </a:lnSpc>
            </a:pPr>
            <a:r>
              <a:rPr lang="en-IN" sz="2000" b="1">
                <a:latin typeface="Arial" panose="020B0604020202020204" pitchFamily="34" charset="0"/>
                <a:cs typeface="Arial" panose="020B0604020202020204" pitchFamily="34" charset="0"/>
              </a:rPr>
              <a:t>AI-generated images and videos</a:t>
            </a:r>
            <a:r>
              <a:rPr lang="en-IN" sz="2000">
                <a:latin typeface="Arial" panose="020B0604020202020204" pitchFamily="34" charset="0"/>
                <a:cs typeface="Arial" panose="020B0604020202020204" pitchFamily="34" charset="0"/>
              </a:rPr>
              <a:t> for marketing campaigns. </a:t>
            </a:r>
          </a:p>
          <a:p>
            <a:pPr>
              <a:lnSpc>
                <a:spcPct val="150000"/>
              </a:lnSpc>
            </a:pPr>
            <a:r>
              <a:rPr lang="en-IN" sz="2000" b="1">
                <a:latin typeface="Arial" panose="020B0604020202020204" pitchFamily="34" charset="0"/>
                <a:cs typeface="Arial" panose="020B0604020202020204" pitchFamily="34" charset="0"/>
              </a:rPr>
              <a:t>Real-time campaign automation </a:t>
            </a:r>
            <a:r>
              <a:rPr lang="en-IN" sz="2000">
                <a:latin typeface="Arial" panose="020B0604020202020204" pitchFamily="34" charset="0"/>
                <a:cs typeface="Arial" panose="020B0604020202020204" pitchFamily="34" charset="0"/>
              </a:rPr>
              <a:t>with automatic scheduling and publishing. </a:t>
            </a:r>
          </a:p>
          <a:p>
            <a:pPr>
              <a:lnSpc>
                <a:spcPct val="150000"/>
              </a:lnSpc>
            </a:pPr>
            <a:r>
              <a:rPr lang="en-IN" sz="2000" b="1">
                <a:latin typeface="Arial" panose="020B0604020202020204" pitchFamily="34" charset="0"/>
                <a:cs typeface="Arial" panose="020B0604020202020204" pitchFamily="34" charset="0"/>
              </a:rPr>
              <a:t>Multilingual content generation </a:t>
            </a:r>
            <a:r>
              <a:rPr lang="en-IN" sz="2000">
                <a:latin typeface="Arial" panose="020B0604020202020204" pitchFamily="34" charset="0"/>
                <a:cs typeface="Arial" panose="020B0604020202020204" pitchFamily="34" charset="0"/>
              </a:rPr>
              <a:t>to reach global audiences. </a:t>
            </a:r>
          </a:p>
          <a:p>
            <a:pPr>
              <a:lnSpc>
                <a:spcPct val="150000"/>
              </a:lnSpc>
            </a:pPr>
            <a:r>
              <a:rPr lang="en-IN" sz="2000" b="1">
                <a:latin typeface="Arial" panose="020B0604020202020204" pitchFamily="34" charset="0"/>
                <a:cs typeface="Arial" panose="020B0604020202020204" pitchFamily="34" charset="0"/>
              </a:rPr>
              <a:t>Influencer discovery and collaboration </a:t>
            </a:r>
            <a:r>
              <a:rPr lang="en-IN" sz="2000">
                <a:latin typeface="Arial" panose="020B0604020202020204" pitchFamily="34" charset="0"/>
                <a:cs typeface="Arial" panose="020B0604020202020204" pitchFamily="34" charset="0"/>
              </a:rPr>
              <a:t>recommendations using AI. </a:t>
            </a:r>
          </a:p>
          <a:p>
            <a:pPr>
              <a:lnSpc>
                <a:spcPct val="150000"/>
              </a:lnSpc>
            </a:pPr>
            <a:r>
              <a:rPr lang="en-IN" sz="2000" b="1">
                <a:latin typeface="Arial" panose="020B0604020202020204" pitchFamily="34" charset="0"/>
                <a:cs typeface="Arial" panose="020B0604020202020204" pitchFamily="34" charset="0"/>
              </a:rPr>
              <a:t>Advanced predictive analytics</a:t>
            </a:r>
            <a:r>
              <a:rPr lang="en-IN" sz="2000">
                <a:latin typeface="Arial" panose="020B0604020202020204" pitchFamily="34" charset="0"/>
                <a:cs typeface="Arial" panose="020B0604020202020204" pitchFamily="34" charset="0"/>
              </a:rPr>
              <a:t> for campaign ROI and audience growth. </a:t>
            </a:r>
          </a:p>
          <a:p>
            <a:pPr>
              <a:lnSpc>
                <a:spcPct val="150000"/>
              </a:lnSpc>
            </a:pPr>
            <a:r>
              <a:rPr lang="en-IN" sz="2000" b="1">
                <a:latin typeface="Arial" panose="020B0604020202020204" pitchFamily="34" charset="0"/>
                <a:cs typeface="Arial" panose="020B0604020202020204" pitchFamily="34" charset="0"/>
              </a:rPr>
              <a:t>Voice-enabled AI assistant </a:t>
            </a:r>
            <a:r>
              <a:rPr lang="en-IN" sz="2000">
                <a:latin typeface="Arial" panose="020B0604020202020204" pitchFamily="34" charset="0"/>
                <a:cs typeface="Arial" panose="020B0604020202020204" pitchFamily="34" charset="0"/>
              </a:rPr>
              <a:t>for hands-free social media management. </a:t>
            </a:r>
          </a:p>
          <a:p>
            <a:pPr>
              <a:lnSpc>
                <a:spcPct val="150000"/>
              </a:lnSpc>
            </a:pPr>
            <a:r>
              <a:rPr lang="en-IN" sz="2000" b="1">
                <a:latin typeface="Arial" panose="020B0604020202020204" pitchFamily="34" charset="0"/>
                <a:cs typeface="Arial" panose="020B0604020202020204" pitchFamily="34" charset="0"/>
              </a:rPr>
              <a:t>CRM and marketing tool integration </a:t>
            </a:r>
            <a:r>
              <a:rPr lang="en-IN" sz="2000">
                <a:latin typeface="Arial" panose="020B0604020202020204" pitchFamily="34" charset="0"/>
                <a:cs typeface="Arial" panose="020B0604020202020204" pitchFamily="34" charset="0"/>
              </a:rPr>
              <a:t>(Salesforce, HubSpot, etc.) for end-to-end campaign management.</a:t>
            </a:r>
          </a:p>
        </p:txBody>
      </p:sp>
    </p:spTree>
    <p:extLst>
      <p:ext uri="{BB962C8B-B14F-4D97-AF65-F5344CB8AC3E}">
        <p14:creationId xmlns:p14="http://schemas.microsoft.com/office/powerpoint/2010/main" val="12050718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2B8C9-FB4E-1C92-652F-5DDB6A2466F8}"/>
              </a:ext>
            </a:extLst>
          </p:cNvPr>
          <p:cNvSpPr>
            <a:spLocks noGrp="1"/>
          </p:cNvSpPr>
          <p:nvPr>
            <p:ph type="title"/>
          </p:nvPr>
        </p:nvSpPr>
        <p:spPr>
          <a:xfrm>
            <a:off x="838199" y="241300"/>
            <a:ext cx="10515600" cy="1325563"/>
          </a:xfrm>
        </p:spPr>
        <p:txBody>
          <a:bodyPr>
            <a:normAutofit/>
          </a:bodyPr>
          <a:lstStyle/>
          <a:p>
            <a:r>
              <a:rPr lang="en-US" sz="2800" b="1">
                <a:latin typeface="Arial" panose="020B0604020202020204" pitchFamily="34" charset="0"/>
                <a:cs typeface="Arial" panose="020B0604020202020204" pitchFamily="34" charset="0"/>
              </a:rPr>
              <a:t>Certificates Earned</a:t>
            </a:r>
            <a:endParaRPr lang="en-IN" sz="2800" b="1">
              <a:latin typeface="Arial" panose="020B0604020202020204" pitchFamily="34" charset="0"/>
              <a:cs typeface="Arial" panose="020B0604020202020204" pitchFamily="34" charset="0"/>
            </a:endParaRPr>
          </a:p>
        </p:txBody>
      </p:sp>
      <p:pic>
        <p:nvPicPr>
          <p:cNvPr id="7" name="Content Placeholder 6">
            <a:extLst>
              <a:ext uri="{FF2B5EF4-FFF2-40B4-BE49-F238E27FC236}">
                <a16:creationId xmlns:a16="http://schemas.microsoft.com/office/drawing/2014/main" id="{F3C5B0E7-1EF1-B98C-C61D-C4965C06CDF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60517" y="1380136"/>
            <a:ext cx="6670965" cy="5006377"/>
          </a:xfrm>
          <a:prstGeom prst="rect">
            <a:avLst/>
          </a:prstGeom>
        </p:spPr>
      </p:pic>
    </p:spTree>
    <p:extLst>
      <p:ext uri="{BB962C8B-B14F-4D97-AF65-F5344CB8AC3E}">
        <p14:creationId xmlns:p14="http://schemas.microsoft.com/office/powerpoint/2010/main" val="36392407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09202-A0B8-A3AB-ED6F-B4F2A71A0040}"/>
              </a:ext>
            </a:extLst>
          </p:cNvPr>
          <p:cNvSpPr>
            <a:spLocks noGrp="1"/>
          </p:cNvSpPr>
          <p:nvPr>
            <p:ph type="title"/>
          </p:nvPr>
        </p:nvSpPr>
        <p:spPr/>
        <p:txBody>
          <a:bodyPr/>
          <a:lstStyle/>
          <a:p>
            <a:r>
              <a:rPr lang="en-US" sz="2800" b="1" dirty="0" err="1"/>
              <a:t>Github</a:t>
            </a:r>
            <a:r>
              <a:rPr lang="en-US" sz="2800" b="1" dirty="0"/>
              <a:t> Link</a:t>
            </a:r>
          </a:p>
        </p:txBody>
      </p:sp>
      <p:sp>
        <p:nvSpPr>
          <p:cNvPr id="3" name="Content Placeholder 2">
            <a:extLst>
              <a:ext uri="{FF2B5EF4-FFF2-40B4-BE49-F238E27FC236}">
                <a16:creationId xmlns:a16="http://schemas.microsoft.com/office/drawing/2014/main" id="{BB3C07DD-F2B9-CC93-40CC-7A4599E86354}"/>
              </a:ext>
            </a:extLst>
          </p:cNvPr>
          <p:cNvSpPr>
            <a:spLocks noGrp="1"/>
          </p:cNvSpPr>
          <p:nvPr>
            <p:ph idx="1"/>
          </p:nvPr>
        </p:nvSpPr>
        <p:spPr/>
        <p:txBody>
          <a:bodyPr vert="horz" lIns="91440" tIns="45720" rIns="91440" bIns="45720" rtlCol="0" anchor="t">
            <a:normAutofit/>
          </a:bodyPr>
          <a:lstStyle/>
          <a:p>
            <a:r>
              <a:rPr lang="en-US" sz="2000" dirty="0">
                <a:ea typeface="+mn-lt"/>
                <a:cs typeface="+mn-lt"/>
                <a:hlinkClick r:id="rId2"/>
              </a:rPr>
              <a:t>https://github.com/Tanish0607/Social-Sense-AI</a:t>
            </a:r>
            <a:endParaRPr lang="en-US" sz="2000">
              <a:ea typeface="+mn-lt"/>
              <a:cs typeface="+mn-lt"/>
            </a:endParaRPr>
          </a:p>
          <a:p>
            <a:r>
              <a:rPr lang="en-US" sz="2000"/>
              <a:t>File name- SOCIAL.html</a:t>
            </a:r>
          </a:p>
          <a:p>
            <a:endParaRPr lang="en-US" sz="2000" dirty="0"/>
          </a:p>
        </p:txBody>
      </p:sp>
    </p:spTree>
    <p:extLst>
      <p:ext uri="{BB962C8B-B14F-4D97-AF65-F5344CB8AC3E}">
        <p14:creationId xmlns:p14="http://schemas.microsoft.com/office/powerpoint/2010/main" val="18090160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6B5FA-AD94-6710-1F61-71752579AE92}"/>
              </a:ext>
            </a:extLst>
          </p:cNvPr>
          <p:cNvSpPr>
            <a:spLocks noGrp="1"/>
          </p:cNvSpPr>
          <p:nvPr>
            <p:ph type="title"/>
          </p:nvPr>
        </p:nvSpPr>
        <p:spPr/>
        <p:txBody>
          <a:bodyPr>
            <a:normAutofit/>
          </a:bodyPr>
          <a:lstStyle/>
          <a:p>
            <a:r>
              <a:rPr lang="en-US" sz="2800" b="1">
                <a:latin typeface="Arial" panose="020B0604020202020204" pitchFamily="34" charset="0"/>
                <a:cs typeface="Arial" panose="020B0604020202020204" pitchFamily="34" charset="0"/>
              </a:rPr>
              <a:t>Certificates Earned</a:t>
            </a:r>
            <a:endParaRPr lang="en-IN" sz="2800" b="1">
              <a:latin typeface="Arial" panose="020B0604020202020204" pitchFamily="34" charset="0"/>
              <a:cs typeface="Arial" panose="020B0604020202020204" pitchFamily="34" charset="0"/>
            </a:endParaRPr>
          </a:p>
        </p:txBody>
      </p:sp>
      <p:pic>
        <p:nvPicPr>
          <p:cNvPr id="6" name="Content Placeholder 5">
            <a:extLst>
              <a:ext uri="{FF2B5EF4-FFF2-40B4-BE49-F238E27FC236}">
                <a16:creationId xmlns:a16="http://schemas.microsoft.com/office/drawing/2014/main" id="{CB542FBB-B553-E47A-433C-F2A353FA5604}"/>
              </a:ext>
            </a:extLst>
          </p:cNvPr>
          <p:cNvPicPr>
            <a:picLocks noGrp="1" noChangeAspect="1"/>
          </p:cNvPicPr>
          <p:nvPr>
            <p:ph idx="1"/>
          </p:nvPr>
        </p:nvPicPr>
        <p:blipFill>
          <a:blip r:embed="rId2"/>
          <a:stretch>
            <a:fillRect/>
          </a:stretch>
        </p:blipFill>
        <p:spPr>
          <a:xfrm>
            <a:off x="2567618" y="1433740"/>
            <a:ext cx="7688135" cy="4743223"/>
          </a:xfrm>
          <a:prstGeom prst="rect">
            <a:avLst/>
          </a:prstGeom>
        </p:spPr>
      </p:pic>
    </p:spTree>
    <p:extLst>
      <p:ext uri="{BB962C8B-B14F-4D97-AF65-F5344CB8AC3E}">
        <p14:creationId xmlns:p14="http://schemas.microsoft.com/office/powerpoint/2010/main" val="5383133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1BE9B1-FA2E-2A14-39D7-C3E6887BEED1}"/>
              </a:ext>
            </a:extLst>
          </p:cNvPr>
          <p:cNvSpPr txBox="1"/>
          <p:nvPr/>
        </p:nvSpPr>
        <p:spPr>
          <a:xfrm>
            <a:off x="2981325" y="2566719"/>
            <a:ext cx="7905750" cy="1323439"/>
          </a:xfrm>
          <a:prstGeom prst="rect">
            <a:avLst/>
          </a:prstGeom>
          <a:noFill/>
        </p:spPr>
        <p:txBody>
          <a:bodyPr wrap="square" rtlCol="0">
            <a:spAutoFit/>
          </a:bodyPr>
          <a:lstStyle/>
          <a:p>
            <a:r>
              <a:rPr lang="en-US" sz="8000">
                <a:latin typeface="Arial" panose="020B0604020202020204" pitchFamily="34" charset="0"/>
                <a:cs typeface="Arial" panose="020B0604020202020204" pitchFamily="34" charset="0"/>
              </a:rPr>
              <a:t>THANK YOU</a:t>
            </a:r>
            <a:endParaRPr lang="en-IN" sz="8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405595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14</Slides>
  <Notes>0</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IBM University Engagement Project Submission</vt:lpstr>
      <vt:lpstr>Project Title – Social Media Agent</vt:lpstr>
      <vt:lpstr>Problem Statement- Social Media Agent </vt:lpstr>
      <vt:lpstr>Proposed Solution </vt:lpstr>
      <vt:lpstr>Technologies Used </vt:lpstr>
      <vt:lpstr>PowerPoint Presentation</vt:lpstr>
      <vt:lpstr>Langflow component Used - </vt:lpstr>
      <vt:lpstr>Role of Agentic AI in the Solution</vt:lpstr>
      <vt:lpstr>Novelty &amp; Uniqueness</vt:lpstr>
      <vt:lpstr>Future Scope</vt:lpstr>
      <vt:lpstr>Certificates Earned</vt:lpstr>
      <vt:lpstr>Github Link</vt:lpstr>
      <vt:lpstr>Certificates Earned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Tanish Chogale</dc:creator>
  <cp:revision>39</cp:revision>
  <dcterms:created xsi:type="dcterms:W3CDTF">2026-07-14T17:41:25Z</dcterms:created>
  <dcterms:modified xsi:type="dcterms:W3CDTF">2026-07-15T06:47:44Z</dcterms:modified>
</cp:coreProperties>
</file>